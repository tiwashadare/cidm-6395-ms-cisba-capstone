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E52F4C-B97B-4EAC-BA52-61BE6FFF20B9}" v="15" dt="2025-02-18T04:29:05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eem shadare" userId="9a98641ab4cd53fe" providerId="LiveId" clId="{D8E52F4C-B97B-4EAC-BA52-61BE6FFF20B9}"/>
    <pc:docChg chg="undo custSel addSld delSld modSld">
      <pc:chgData name="akeem shadare" userId="9a98641ab4cd53fe" providerId="LiveId" clId="{D8E52F4C-B97B-4EAC-BA52-61BE6FFF20B9}" dt="2025-02-22T04:13:40.766" v="4503" actId="14100"/>
      <pc:docMkLst>
        <pc:docMk/>
      </pc:docMkLst>
      <pc:sldChg chg="addSp delSp modSp mod">
        <pc:chgData name="akeem shadare" userId="9a98641ab4cd53fe" providerId="LiveId" clId="{D8E52F4C-B97B-4EAC-BA52-61BE6FFF20B9}" dt="2025-02-22T04:07:00.116" v="4471" actId="20577"/>
        <pc:sldMkLst>
          <pc:docMk/>
          <pc:sldMk cId="3991318258" sldId="257"/>
        </pc:sldMkLst>
        <pc:spChg chg="mod">
          <ac:chgData name="akeem shadare" userId="9a98641ab4cd53fe" providerId="LiveId" clId="{D8E52F4C-B97B-4EAC-BA52-61BE6FFF20B9}" dt="2025-02-22T04:07:00.116" v="4471" actId="20577"/>
          <ac:spMkLst>
            <pc:docMk/>
            <pc:sldMk cId="3991318258" sldId="257"/>
            <ac:spMk id="2" creationId="{3C008AE9-86CF-1759-F0BF-444C84977575}"/>
          </ac:spMkLst>
        </pc:spChg>
        <pc:spChg chg="add del mod">
          <ac:chgData name="akeem shadare" userId="9a98641ab4cd53fe" providerId="LiveId" clId="{D8E52F4C-B97B-4EAC-BA52-61BE6FFF20B9}" dt="2025-02-22T04:06:25.697" v="4462" actId="22"/>
          <ac:spMkLst>
            <pc:docMk/>
            <pc:sldMk cId="3991318258" sldId="257"/>
            <ac:spMk id="4" creationId="{9B1572A3-24B8-D16B-3A43-B3816C24FA00}"/>
          </ac:spMkLst>
        </pc:spChg>
        <pc:picChg chg="del mod">
          <ac:chgData name="akeem shadare" userId="9a98641ab4cd53fe" providerId="LiveId" clId="{D8E52F4C-B97B-4EAC-BA52-61BE6FFF20B9}" dt="2025-02-22T04:06:22.556" v="4461" actId="478"/>
          <ac:picMkLst>
            <pc:docMk/>
            <pc:sldMk cId="3991318258" sldId="257"/>
            <ac:picMk id="5" creationId="{2FFF3D72-9E8D-F54A-B73C-770C804229D8}"/>
          </ac:picMkLst>
        </pc:picChg>
        <pc:picChg chg="add mod ord">
          <ac:chgData name="akeem shadare" userId="9a98641ab4cd53fe" providerId="LiveId" clId="{D8E52F4C-B97B-4EAC-BA52-61BE6FFF20B9}" dt="2025-02-22T04:06:25.697" v="4462" actId="22"/>
          <ac:picMkLst>
            <pc:docMk/>
            <pc:sldMk cId="3991318258" sldId="257"/>
            <ac:picMk id="7" creationId="{5040D8A2-07E1-9A00-E4DE-2533850D9500}"/>
          </ac:picMkLst>
        </pc:picChg>
      </pc:sldChg>
      <pc:sldChg chg="addSp delSp modSp mod">
        <pc:chgData name="akeem shadare" userId="9a98641ab4cd53fe" providerId="LiveId" clId="{D8E52F4C-B97B-4EAC-BA52-61BE6FFF20B9}" dt="2025-02-21T03:55:05.939" v="4316" actId="1076"/>
        <pc:sldMkLst>
          <pc:docMk/>
          <pc:sldMk cId="2911104433" sldId="258"/>
        </pc:sldMkLst>
        <pc:spChg chg="mod">
          <ac:chgData name="akeem shadare" userId="9a98641ab4cd53fe" providerId="LiveId" clId="{D8E52F4C-B97B-4EAC-BA52-61BE6FFF20B9}" dt="2025-02-18T04:28:21.379" v="3619" actId="122"/>
          <ac:spMkLst>
            <pc:docMk/>
            <pc:sldMk cId="2911104433" sldId="258"/>
            <ac:spMk id="2" creationId="{4F7ACFE2-071B-86E9-571B-674C6CCB0395}"/>
          </ac:spMkLst>
        </pc:spChg>
        <pc:picChg chg="add del mod">
          <ac:chgData name="akeem shadare" userId="9a98641ab4cd53fe" providerId="LiveId" clId="{D8E52F4C-B97B-4EAC-BA52-61BE6FFF20B9}" dt="2025-02-21T03:55:05.939" v="4316" actId="1076"/>
          <ac:picMkLst>
            <pc:docMk/>
            <pc:sldMk cId="2911104433" sldId="258"/>
            <ac:picMk id="5" creationId="{B13353D1-F41B-24C8-B6F1-2A471CE84C91}"/>
          </ac:picMkLst>
        </pc:picChg>
      </pc:sldChg>
      <pc:sldChg chg="addSp delSp modSp mod">
        <pc:chgData name="akeem shadare" userId="9a98641ab4cd53fe" providerId="LiveId" clId="{D8E52F4C-B97B-4EAC-BA52-61BE6FFF20B9}" dt="2025-02-22T04:09:21.107" v="4483" actId="20577"/>
        <pc:sldMkLst>
          <pc:docMk/>
          <pc:sldMk cId="2139834518" sldId="259"/>
        </pc:sldMkLst>
        <pc:spChg chg="mod">
          <ac:chgData name="akeem shadare" userId="9a98641ab4cd53fe" providerId="LiveId" clId="{D8E52F4C-B97B-4EAC-BA52-61BE6FFF20B9}" dt="2025-02-18T04:31:28.115" v="3680" actId="20577"/>
          <ac:spMkLst>
            <pc:docMk/>
            <pc:sldMk cId="2139834518" sldId="259"/>
            <ac:spMk id="2" creationId="{F87F867D-424F-3BB5-5628-BB89E73D6B8A}"/>
          </ac:spMkLst>
        </pc:spChg>
        <pc:spChg chg="add mod">
          <ac:chgData name="akeem shadare" userId="9a98641ab4cd53fe" providerId="LiveId" clId="{D8E52F4C-B97B-4EAC-BA52-61BE6FFF20B9}" dt="2025-02-22T04:09:21.107" v="4483" actId="20577"/>
          <ac:spMkLst>
            <pc:docMk/>
            <pc:sldMk cId="2139834518" sldId="259"/>
            <ac:spMk id="7" creationId="{233FD7F4-D975-4C5A-A24F-31475E228A74}"/>
          </ac:spMkLst>
        </pc:spChg>
        <pc:picChg chg="mod">
          <ac:chgData name="akeem shadare" userId="9a98641ab4cd53fe" providerId="LiveId" clId="{D8E52F4C-B97B-4EAC-BA52-61BE6FFF20B9}" dt="2025-02-18T04:36:01.645" v="4282" actId="1582"/>
          <ac:picMkLst>
            <pc:docMk/>
            <pc:sldMk cId="2139834518" sldId="259"/>
            <ac:picMk id="5" creationId="{2B8DBA92-CB9B-8D2D-124D-59CC4C282A46}"/>
          </ac:picMkLst>
        </pc:picChg>
      </pc:sldChg>
      <pc:sldChg chg="modSp new mod">
        <pc:chgData name="akeem shadare" userId="9a98641ab4cd53fe" providerId="LiveId" clId="{D8E52F4C-B97B-4EAC-BA52-61BE6FFF20B9}" dt="2025-02-22T04:11:10.029" v="4497" actId="20577"/>
        <pc:sldMkLst>
          <pc:docMk/>
          <pc:sldMk cId="380628425" sldId="260"/>
        </pc:sldMkLst>
        <pc:spChg chg="mod">
          <ac:chgData name="akeem shadare" userId="9a98641ab4cd53fe" providerId="LiveId" clId="{D8E52F4C-B97B-4EAC-BA52-61BE6FFF20B9}" dt="2025-02-18T04:11:53.923" v="2636" actId="113"/>
          <ac:spMkLst>
            <pc:docMk/>
            <pc:sldMk cId="380628425" sldId="260"/>
            <ac:spMk id="2" creationId="{755EC164-A45C-6424-D174-979D6C37AC87}"/>
          </ac:spMkLst>
        </pc:spChg>
        <pc:spChg chg="mod">
          <ac:chgData name="akeem shadare" userId="9a98641ab4cd53fe" providerId="LiveId" clId="{D8E52F4C-B97B-4EAC-BA52-61BE6FFF20B9}" dt="2025-02-22T04:11:10.029" v="4497" actId="20577"/>
          <ac:spMkLst>
            <pc:docMk/>
            <pc:sldMk cId="380628425" sldId="260"/>
            <ac:spMk id="3" creationId="{396996FA-5D38-E5AC-C375-29CF911BDCC1}"/>
          </ac:spMkLst>
        </pc:spChg>
      </pc:sldChg>
      <pc:sldChg chg="addSp delSp modSp new mod">
        <pc:chgData name="akeem shadare" userId="9a98641ab4cd53fe" providerId="LiveId" clId="{D8E52F4C-B97B-4EAC-BA52-61BE6FFF20B9}" dt="2025-02-22T04:12:03.654" v="4500" actId="20577"/>
        <pc:sldMkLst>
          <pc:docMk/>
          <pc:sldMk cId="1785608972" sldId="261"/>
        </pc:sldMkLst>
        <pc:spChg chg="mod">
          <ac:chgData name="akeem shadare" userId="9a98641ab4cd53fe" providerId="LiveId" clId="{D8E52F4C-B97B-4EAC-BA52-61BE6FFF20B9}" dt="2025-02-18T04:36:52.619" v="4292" actId="6549"/>
          <ac:spMkLst>
            <pc:docMk/>
            <pc:sldMk cId="1785608972" sldId="261"/>
            <ac:spMk id="2" creationId="{34A4AAC4-8A78-26DF-A534-7626C6C56209}"/>
          </ac:spMkLst>
        </pc:spChg>
        <pc:spChg chg="add mod">
          <ac:chgData name="akeem shadare" userId="9a98641ab4cd53fe" providerId="LiveId" clId="{D8E52F4C-B97B-4EAC-BA52-61BE6FFF20B9}" dt="2025-02-22T04:12:03.654" v="4500" actId="20577"/>
          <ac:spMkLst>
            <pc:docMk/>
            <pc:sldMk cId="1785608972" sldId="261"/>
            <ac:spMk id="9" creationId="{5BD1E4C1-9B8D-3464-F50D-9CDB98F2E3A5}"/>
          </ac:spMkLst>
        </pc:spChg>
        <pc:picChg chg="add mod ord">
          <ac:chgData name="akeem shadare" userId="9a98641ab4cd53fe" providerId="LiveId" clId="{D8E52F4C-B97B-4EAC-BA52-61BE6FFF20B9}" dt="2025-02-18T03:35:59.332" v="563" actId="1076"/>
          <ac:picMkLst>
            <pc:docMk/>
            <pc:sldMk cId="1785608972" sldId="261"/>
            <ac:picMk id="8" creationId="{BA12181E-E302-1382-DF16-12DDA0515535}"/>
          </ac:picMkLst>
        </pc:picChg>
      </pc:sldChg>
      <pc:sldChg chg="addSp delSp modSp new mod">
        <pc:chgData name="akeem shadare" userId="9a98641ab4cd53fe" providerId="LiveId" clId="{D8E52F4C-B97B-4EAC-BA52-61BE6FFF20B9}" dt="2025-02-19T04:16:35.787" v="4315" actId="20577"/>
        <pc:sldMkLst>
          <pc:docMk/>
          <pc:sldMk cId="1709066943" sldId="262"/>
        </pc:sldMkLst>
        <pc:spChg chg="mod">
          <ac:chgData name="akeem shadare" userId="9a98641ab4cd53fe" providerId="LiveId" clId="{D8E52F4C-B97B-4EAC-BA52-61BE6FFF20B9}" dt="2025-02-18T03:39:43.414" v="819" actId="20577"/>
          <ac:spMkLst>
            <pc:docMk/>
            <pc:sldMk cId="1709066943" sldId="262"/>
            <ac:spMk id="2" creationId="{CDA2E568-8390-21A5-F71E-A53D51B703DD}"/>
          </ac:spMkLst>
        </pc:spChg>
        <pc:spChg chg="add mod">
          <ac:chgData name="akeem shadare" userId="9a98641ab4cd53fe" providerId="LiveId" clId="{D8E52F4C-B97B-4EAC-BA52-61BE6FFF20B9}" dt="2025-02-19T04:16:35.787" v="4315" actId="20577"/>
          <ac:spMkLst>
            <pc:docMk/>
            <pc:sldMk cId="1709066943" sldId="262"/>
            <ac:spMk id="6" creationId="{F58428F7-0D25-8398-98A5-AF51A62DF592}"/>
          </ac:spMkLst>
        </pc:spChg>
        <pc:picChg chg="add mod ord">
          <ac:chgData name="akeem shadare" userId="9a98641ab4cd53fe" providerId="LiveId" clId="{D8E52F4C-B97B-4EAC-BA52-61BE6FFF20B9}" dt="2025-02-18T03:37:17.976" v="628" actId="1076"/>
          <ac:picMkLst>
            <pc:docMk/>
            <pc:sldMk cId="1709066943" sldId="262"/>
            <ac:picMk id="5" creationId="{3C648ADE-956C-3D25-7E07-ED47B449AFAA}"/>
          </ac:picMkLst>
        </pc:picChg>
      </pc:sldChg>
      <pc:sldChg chg="addSp delSp modSp new mod">
        <pc:chgData name="akeem shadare" userId="9a98641ab4cd53fe" providerId="LiveId" clId="{D8E52F4C-B97B-4EAC-BA52-61BE6FFF20B9}" dt="2025-02-22T04:13:40.766" v="4503" actId="14100"/>
        <pc:sldMkLst>
          <pc:docMk/>
          <pc:sldMk cId="4265098018" sldId="263"/>
        </pc:sldMkLst>
        <pc:spChg chg="mod">
          <ac:chgData name="akeem shadare" userId="9a98641ab4cd53fe" providerId="LiveId" clId="{D8E52F4C-B97B-4EAC-BA52-61BE6FFF20B9}" dt="2025-02-18T03:41:06.787" v="853" actId="113"/>
          <ac:spMkLst>
            <pc:docMk/>
            <pc:sldMk cId="4265098018" sldId="263"/>
            <ac:spMk id="2" creationId="{A97FB2DB-745A-52F6-0915-C0D1BDB556FE}"/>
          </ac:spMkLst>
        </pc:spChg>
        <pc:spChg chg="add mod">
          <ac:chgData name="akeem shadare" userId="9a98641ab4cd53fe" providerId="LiveId" clId="{D8E52F4C-B97B-4EAC-BA52-61BE6FFF20B9}" dt="2025-02-22T04:13:40.766" v="4503" actId="14100"/>
          <ac:spMkLst>
            <pc:docMk/>
            <pc:sldMk cId="4265098018" sldId="263"/>
            <ac:spMk id="10" creationId="{FFACA931-453D-4C02-8752-1E995691A933}"/>
          </ac:spMkLst>
        </pc:spChg>
        <pc:picChg chg="add mod ord">
          <ac:chgData name="akeem shadare" userId="9a98641ab4cd53fe" providerId="LiveId" clId="{D8E52F4C-B97B-4EAC-BA52-61BE6FFF20B9}" dt="2025-02-17T22:45:49.298" v="508" actId="1076"/>
          <ac:picMkLst>
            <pc:docMk/>
            <pc:sldMk cId="4265098018" sldId="263"/>
            <ac:picMk id="9" creationId="{59E5FA8E-9E2B-32AA-DCA5-CBA940F0215D}"/>
          </ac:picMkLst>
        </pc:picChg>
      </pc:sldChg>
      <pc:sldChg chg="new del">
        <pc:chgData name="akeem shadare" userId="9a98641ab4cd53fe" providerId="LiveId" clId="{D8E52F4C-B97B-4EAC-BA52-61BE6FFF20B9}" dt="2025-02-18T03:41:56.763" v="855" actId="680"/>
        <pc:sldMkLst>
          <pc:docMk/>
          <pc:sldMk cId="3352638033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5891-BD94-4E40-BA99-812A0E47837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3DEBA-4255-4D8C-A9AB-79DCAD814C4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63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5891-BD94-4E40-BA99-812A0E47837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3DEBA-4255-4D8C-A9AB-79DCAD814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19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5891-BD94-4E40-BA99-812A0E47837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3DEBA-4255-4D8C-A9AB-79DCAD814C4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102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5891-BD94-4E40-BA99-812A0E47837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3DEBA-4255-4D8C-A9AB-79DCAD814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26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5891-BD94-4E40-BA99-812A0E47837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3DEBA-4255-4D8C-A9AB-79DCAD814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2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5891-BD94-4E40-BA99-812A0E47837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3DEBA-4255-4D8C-A9AB-79DCAD814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9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5891-BD94-4E40-BA99-812A0E47837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3DEBA-4255-4D8C-A9AB-79DCAD814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696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9E35891-BD94-4E40-BA99-812A0E47837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C3DEBA-4255-4D8C-A9AB-79DCAD814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16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5891-BD94-4E40-BA99-812A0E47837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3DEBA-4255-4D8C-A9AB-79DCAD814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08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5891-BD94-4E40-BA99-812A0E47837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3DEBA-4255-4D8C-A9AB-79DCAD814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51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5891-BD94-4E40-BA99-812A0E47837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3DEBA-4255-4D8C-A9AB-79DCAD814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59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9E35891-BD94-4E40-BA99-812A0E478371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EC3DEBA-4255-4D8C-A9AB-79DCAD814C4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281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youtube.com/" TargetMode="External"/><Relationship Id="rId5" Type="http://schemas.openxmlformats.org/officeDocument/2006/relationships/hyperlink" Target="http://www.facebook.com/" TargetMode="External"/><Relationship Id="rId4" Type="http://schemas.openxmlformats.org/officeDocument/2006/relationships/hyperlink" Target="http://www.yahoo.co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DE36A-CCD4-2605-C975-56FC0EB267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CIDM 6312 – Seminar in Data Visualization.</a:t>
            </a:r>
            <a:br>
              <a:rPr lang="en-US" dirty="0"/>
            </a:br>
            <a:r>
              <a:rPr lang="en-US" dirty="0"/>
              <a:t>HW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CA15E-9488-5DF1-EB14-8063C70D6A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Submitted by: </a:t>
            </a:r>
            <a:r>
              <a:rPr lang="en-US" dirty="0" err="1"/>
              <a:t>tiwalope</a:t>
            </a:r>
            <a:r>
              <a:rPr lang="en-US" dirty="0"/>
              <a:t> shadare</a:t>
            </a:r>
          </a:p>
        </p:txBody>
      </p:sp>
    </p:spTree>
    <p:extLst>
      <p:ext uri="{BB962C8B-B14F-4D97-AF65-F5344CB8AC3E}">
        <p14:creationId xmlns:p14="http://schemas.microsoft.com/office/powerpoint/2010/main" val="1368332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08AE9-86CF-1759-F0BF-444C84977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0" y="275303"/>
            <a:ext cx="11464413" cy="1038067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Part 1 - Column chart showing frequency distribution of soft drink purchased by TS.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040D8A2-07E1-9A00-E4DE-2533850D9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2074" y="1846263"/>
            <a:ext cx="7348177" cy="4022725"/>
          </a:xfrm>
        </p:spPr>
      </p:pic>
    </p:spTree>
    <p:extLst>
      <p:ext uri="{BB962C8B-B14F-4D97-AF65-F5344CB8AC3E}">
        <p14:creationId xmlns:p14="http://schemas.microsoft.com/office/powerpoint/2010/main" val="3991318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ACFE2-071B-86E9-571B-674C6CCB0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649798"/>
            <a:ext cx="10736825" cy="99306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Part 1 - Histogram showing Age of Death frequency distribution by TS.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3353D1-F41B-24C8-B6F1-2A471CE84C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5795" y="1874458"/>
            <a:ext cx="7293351" cy="4099183"/>
          </a:xfr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11104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F867D-424F-3BB5-5628-BB89E73D6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03" y="644883"/>
            <a:ext cx="11838039" cy="1002156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404040"/>
                </a:solidFill>
                <a:effectLst/>
                <a:latin typeface="Calibri Light" panose="020F0302020204030204" pitchFamily="34" charset="0"/>
              </a:rPr>
              <a:t>Part 1 - A Box and Whisker Plot illustrating home sales data by TS.</a:t>
            </a:r>
            <a:endParaRPr lang="en-US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8DBA92-CB9B-8D2D-124D-59CC4C282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865" y="1779638"/>
            <a:ext cx="7888137" cy="4433479"/>
          </a:xfrm>
          <a:ln w="952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3FD7F4-D975-4C5A-A24F-31475E228A74}"/>
              </a:ext>
            </a:extLst>
          </p:cNvPr>
          <p:cNvSpPr txBox="1"/>
          <p:nvPr/>
        </p:nvSpPr>
        <p:spPr>
          <a:xfrm>
            <a:off x="8817002" y="1779638"/>
            <a:ext cx="337499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Interpretation</a:t>
            </a:r>
          </a:p>
          <a:p>
            <a:r>
              <a:rPr lang="en-US" dirty="0"/>
              <a:t>This box and whisker plot provides a graphical distribution of data among the suburbs in our list. The interquartile range is the shaded area which shows where the middle 50% of the data are represented. Data outside of the whiskers are outliers. </a:t>
            </a:r>
          </a:p>
          <a:p>
            <a:r>
              <a:rPr lang="en-US" dirty="0"/>
              <a:t>Overall, we can see that Irving and Groton suburbs have outliers –both condos. </a:t>
            </a:r>
          </a:p>
          <a:p>
            <a:r>
              <a:rPr lang="en-US" dirty="0"/>
              <a:t>Collectively, the Hamilton suburb has the least expensive homes while the Shadyside suburb has the most expensive homes.</a:t>
            </a:r>
          </a:p>
        </p:txBody>
      </p:sp>
    </p:spTree>
    <p:extLst>
      <p:ext uri="{BB962C8B-B14F-4D97-AF65-F5344CB8AC3E}">
        <p14:creationId xmlns:p14="http://schemas.microsoft.com/office/powerpoint/2010/main" val="2139834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C164-A45C-6424-D174-979D6C37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06" y="263527"/>
            <a:ext cx="10959035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Part 1 – Comparison and Analysis of Box and Whisker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996FA-5D38-E5AC-C375-29CF911BD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239314" cy="448624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Fairview: </a:t>
            </a:r>
            <a:r>
              <a:rPr lang="en-US" dirty="0"/>
              <a:t>Distribution is symmetrical with a median price of $203, 000. There are no extreme outliers with low or high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Groton: </a:t>
            </a:r>
            <a:r>
              <a:rPr lang="en-US" dirty="0"/>
              <a:t>Distribution is symmetrical with less dispersion than Fairview. The median price of $158, 000 for a home. There are a few outliers – a detached out with a low value of $132, 000 and a condo with a slightly high value of $198,000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Hamilton: </a:t>
            </a:r>
            <a:r>
              <a:rPr lang="en-US" dirty="0"/>
              <a:t>This suburb has the cheapest houses on our list with a median home price of $100,000. The distribution has a slight downward (negative) skewness with most home prices in the upper range.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Irving: </a:t>
            </a:r>
            <a:r>
              <a:rPr lang="en-US" dirty="0"/>
              <a:t>Distribution has an upward (positive) skewness with most homes having a low home price. There are a few outliers with some high home prices, for example, we have a condo priced at $454,000. The Irving suburb has a median home price of $158,000, which is the same as the Groton suburb.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Shadyside: </a:t>
            </a:r>
            <a:r>
              <a:rPr lang="en-US" dirty="0"/>
              <a:t>The Shadyside suburb has the most expensive houses on our list with a median home price of $339,000. The distribution has an upward (positive) skewness with most of the home prices in the lower range and a few in the upper range.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28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4AAC4-8A78-26DF-A534-7626C6C56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964" y="422787"/>
            <a:ext cx="10058400" cy="1071717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404040"/>
                </a:solidFill>
                <a:effectLst/>
                <a:latin typeface="Calibri Light" panose="020F0302020204030204" pitchFamily="34" charset="0"/>
              </a:rPr>
              <a:t>Part</a:t>
            </a:r>
            <a:r>
              <a:rPr lang="en-US" sz="3600" dirty="0">
                <a:solidFill>
                  <a:srgbClr val="404040"/>
                </a:solidFill>
                <a:effectLst/>
                <a:latin typeface="Calibri Light" panose="020F0302020204030204" pitchFamily="34" charset="0"/>
              </a:rPr>
              <a:t> </a:t>
            </a:r>
            <a:r>
              <a:rPr lang="en-US" sz="3600" b="1" dirty="0">
                <a:solidFill>
                  <a:srgbClr val="404040"/>
                </a:solidFill>
                <a:effectLst/>
                <a:latin typeface="Calibri Light" panose="020F0302020204030204" pitchFamily="34" charset="0"/>
              </a:rPr>
              <a:t>2</a:t>
            </a:r>
            <a:r>
              <a:rPr lang="en-US" sz="3600" dirty="0">
                <a:solidFill>
                  <a:srgbClr val="404040"/>
                </a:solidFill>
                <a:effectLst/>
                <a:latin typeface="Calibri Light" panose="020F0302020204030204" pitchFamily="34" charset="0"/>
              </a:rPr>
              <a:t> </a:t>
            </a:r>
            <a:r>
              <a:rPr lang="en-US" sz="3600" b="1" dirty="0">
                <a:solidFill>
                  <a:srgbClr val="404040"/>
                </a:solidFill>
                <a:effectLst/>
                <a:latin typeface="Calibri Light" panose="020F0302020204030204" pitchFamily="34" charset="0"/>
              </a:rPr>
              <a:t>– Column Chart</a:t>
            </a:r>
            <a:r>
              <a:rPr lang="en-US" sz="3600" dirty="0">
                <a:solidFill>
                  <a:srgbClr val="404040"/>
                </a:solidFill>
                <a:effectLst/>
                <a:latin typeface="Calibri Light" panose="020F0302020204030204" pitchFamily="34" charset="0"/>
              </a:rPr>
              <a:t> </a:t>
            </a:r>
            <a:r>
              <a:rPr lang="en-US" sz="3600" b="1" dirty="0">
                <a:solidFill>
                  <a:srgbClr val="404040"/>
                </a:solidFill>
                <a:effectLst/>
                <a:latin typeface="Calibri Light" panose="020F0302020204030204" pitchFamily="34" charset="0"/>
              </a:rPr>
              <a:t>illustrating the distribution of visits to selected websites by TS</a:t>
            </a:r>
            <a:endParaRPr lang="en-US" sz="3600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A12181E-E302-1382-DF16-12DDA0515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4624" y="1875759"/>
            <a:ext cx="7383336" cy="4022725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D1E4C1-9B8D-3464-F50D-9CDB98F2E3A5}"/>
              </a:ext>
            </a:extLst>
          </p:cNvPr>
          <p:cNvSpPr txBox="1"/>
          <p:nvPr/>
        </p:nvSpPr>
        <p:spPr>
          <a:xfrm>
            <a:off x="8908026" y="1875759"/>
            <a:ext cx="314632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distribution of websites shows that the most frequently visited website is </a:t>
            </a:r>
            <a:r>
              <a:rPr lang="en-US" dirty="0">
                <a:hlinkClick r:id="rId3"/>
              </a:rPr>
              <a:t>www.google.com</a:t>
            </a:r>
            <a:r>
              <a:rPr lang="en-US" dirty="0"/>
              <a:t>, while the second most frequently visited is </a:t>
            </a:r>
            <a:r>
              <a:rPr lang="en-US" dirty="0">
                <a:hlinkClick r:id="rId4"/>
              </a:rPr>
              <a:t>www.yahoo.com</a:t>
            </a:r>
            <a:r>
              <a:rPr lang="en-US" dirty="0"/>
              <a:t>.</a:t>
            </a:r>
          </a:p>
          <a:p>
            <a:r>
              <a:rPr lang="en-US" dirty="0"/>
              <a:t>It also shows that there is a two-way tie for the least visited websites which are </a:t>
            </a:r>
            <a:r>
              <a:rPr lang="en-US" dirty="0">
                <a:hlinkClick r:id="rId5"/>
              </a:rPr>
              <a:t>www.facebook.com</a:t>
            </a:r>
            <a:r>
              <a:rPr lang="en-US" dirty="0"/>
              <a:t> and </a:t>
            </a:r>
            <a:r>
              <a:rPr lang="en-US" dirty="0">
                <a:hlinkClick r:id="rId6"/>
              </a:rPr>
              <a:t>www.youtube.com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5608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E568-8390-21A5-F71E-A53D51B70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774" y="1032387"/>
            <a:ext cx="10693564" cy="655812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Part 2 - Histogram for the distribution of traffic in Airports by TS.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648ADE-956C-3D25-7E07-ED47B449A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5019" y="1915089"/>
            <a:ext cx="7278855" cy="40227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8428F7-0D25-8398-98A5-AF51A62DF592}"/>
              </a:ext>
            </a:extLst>
          </p:cNvPr>
          <p:cNvSpPr txBox="1"/>
          <p:nvPr/>
        </p:nvSpPr>
        <p:spPr>
          <a:xfrm>
            <a:off x="8839200" y="2015613"/>
            <a:ext cx="30971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passenger traffic distribution is skewed to the right. The highest concentration falls within the 40 – 50 million range (bin), followed by the 30-40 million range, which has the second highest concentration. There are a few outliers observed in the 100 – 110 million range. Notably, the 90 – 100 million bin shows no entries.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066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FB2DB-745A-52F6-0915-C0D1BDB55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404040"/>
                </a:solidFill>
                <a:effectLst/>
                <a:latin typeface="Calibri Light" panose="020F0302020204030204" pitchFamily="34" charset="0"/>
              </a:rPr>
              <a:t>Part 2 - Box and Whisker Plot showing viewership of XFL games on television by TS.</a:t>
            </a:r>
            <a:endParaRPr lang="en-US" sz="3600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9E5FA8E-9E2B-32AA-DCA5-CBA940F02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75760"/>
            <a:ext cx="7306426" cy="4022725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ACA931-453D-4C02-8752-1E995691A933}"/>
              </a:ext>
            </a:extLst>
          </p:cNvPr>
          <p:cNvSpPr txBox="1"/>
          <p:nvPr/>
        </p:nvSpPr>
        <p:spPr>
          <a:xfrm>
            <a:off x="8475406" y="1737360"/>
            <a:ext cx="360843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Friday Night viewership: </a:t>
            </a:r>
            <a:r>
              <a:rPr lang="en-US" dirty="0"/>
              <a:t>The distribution of the viewership is relatively symmetrical with a few outliers at the lower and upper ends. With a median of approximately 3,000, it surpasses the Saturday night viewership.</a:t>
            </a:r>
          </a:p>
          <a:p>
            <a:endParaRPr lang="en-US" dirty="0"/>
          </a:p>
          <a:p>
            <a:r>
              <a:rPr lang="en-US" b="1" dirty="0"/>
              <a:t>Saturday Night viewership: </a:t>
            </a:r>
            <a:r>
              <a:rPr lang="en-US" dirty="0"/>
              <a:t>With a median of 677, it has an upward (positive) skewness with most of its distribution having a low viewership. There are some upper-end outliers, suggesting that a couple of games have a high viewership – the highest being over 4,600.</a:t>
            </a:r>
          </a:p>
        </p:txBody>
      </p:sp>
    </p:spTree>
    <p:extLst>
      <p:ext uri="{BB962C8B-B14F-4D97-AF65-F5344CB8AC3E}">
        <p14:creationId xmlns:p14="http://schemas.microsoft.com/office/powerpoint/2010/main" val="42650980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3405</TotalTime>
  <Words>639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Retrospect</vt:lpstr>
      <vt:lpstr>CIDM 6312 – Seminar in Data Visualization. HW 4</vt:lpstr>
      <vt:lpstr>Part 1 - Column chart showing frequency distribution of soft drink purchased by TS.</vt:lpstr>
      <vt:lpstr>Part 1 - Histogram showing Age of Death frequency distribution by TS.</vt:lpstr>
      <vt:lpstr>Part 1 - A Box and Whisker Plot illustrating home sales data by TS.</vt:lpstr>
      <vt:lpstr>Part 1 – Comparison and Analysis of Box and Whisker Plot</vt:lpstr>
      <vt:lpstr>Part 2 – Column Chart illustrating the distribution of visits to selected websites by TS</vt:lpstr>
      <vt:lpstr>Part 2 - Histogram for the distribution of traffic in Airports by TS.</vt:lpstr>
      <vt:lpstr>Part 2 - Box and Whisker Plot showing viewership of XFL games on television by TS.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akeem shadare</dc:creator>
  <cp:lastModifiedBy>akeem shadare</cp:lastModifiedBy>
  <cp:revision>1</cp:revision>
  <dcterms:created xsi:type="dcterms:W3CDTF">2025-02-17T19:49:48Z</dcterms:created>
  <dcterms:modified xsi:type="dcterms:W3CDTF">2025-02-22T04:13:44Z</dcterms:modified>
</cp:coreProperties>
</file>