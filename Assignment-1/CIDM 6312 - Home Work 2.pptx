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7"/>
  </p:notesMasterIdLst>
  <p:sldIdLst>
    <p:sldId id="256" r:id="rId2"/>
    <p:sldId id="257" r:id="rId3"/>
    <p:sldId id="258" r:id="rId4"/>
    <p:sldId id="269" r:id="rId5"/>
    <p:sldId id="260" r:id="rId6"/>
    <p:sldId id="261" r:id="rId7"/>
    <p:sldId id="270" r:id="rId8"/>
    <p:sldId id="264" r:id="rId9"/>
    <p:sldId id="267" r:id="rId10"/>
    <p:sldId id="262" r:id="rId11"/>
    <p:sldId id="271" r:id="rId12"/>
    <p:sldId id="263" r:id="rId13"/>
    <p:sldId id="268" r:id="rId14"/>
    <p:sldId id="265"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85EA8-5D26-481B-9E7C-E0A070EEE8A5}" v="64" dt="2025-02-12T18:00:54.1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567" autoAdjust="0"/>
  </p:normalViewPr>
  <p:slideViewPr>
    <p:cSldViewPr snapToGrid="0">
      <p:cViewPr varScale="1">
        <p:scale>
          <a:sx n="44" d="100"/>
          <a:sy n="44" d="100"/>
        </p:scale>
        <p:origin x="1524"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eem shadare" userId="9a98641ab4cd53fe" providerId="LiveId" clId="{E8C85EA8-5D26-481B-9E7C-E0A070EEE8A5}"/>
    <pc:docChg chg="undo redo custSel addSld delSld modSld sldOrd">
      <pc:chgData name="akeem shadare" userId="9a98641ab4cd53fe" providerId="LiveId" clId="{E8C85EA8-5D26-481B-9E7C-E0A070EEE8A5}" dt="2025-02-12T18:01:50.688" v="7563" actId="14100"/>
      <pc:docMkLst>
        <pc:docMk/>
      </pc:docMkLst>
      <pc:sldChg chg="modSp mod">
        <pc:chgData name="akeem shadare" userId="9a98641ab4cd53fe" providerId="LiveId" clId="{E8C85EA8-5D26-481B-9E7C-E0A070EEE8A5}" dt="2025-02-12T18:01:17.968" v="7562" actId="20577"/>
        <pc:sldMkLst>
          <pc:docMk/>
          <pc:sldMk cId="2277693398" sldId="256"/>
        </pc:sldMkLst>
        <pc:spChg chg="mod">
          <ac:chgData name="akeem shadare" userId="9a98641ab4cd53fe" providerId="LiveId" clId="{E8C85EA8-5D26-481B-9E7C-E0A070EEE8A5}" dt="2025-02-12T18:01:17.968" v="7562" actId="20577"/>
          <ac:spMkLst>
            <pc:docMk/>
            <pc:sldMk cId="2277693398" sldId="256"/>
            <ac:spMk id="2" creationId="{79D2EC84-6CB8-1EA4-3948-0AD592E0E962}"/>
          </ac:spMkLst>
        </pc:spChg>
        <pc:spChg chg="mod">
          <ac:chgData name="akeem shadare" userId="9a98641ab4cd53fe" providerId="LiveId" clId="{E8C85EA8-5D26-481B-9E7C-E0A070EEE8A5}" dt="2025-02-12T17:47:43.548" v="7400"/>
          <ac:spMkLst>
            <pc:docMk/>
            <pc:sldMk cId="2277693398" sldId="256"/>
            <ac:spMk id="3" creationId="{60784AE0-8FBE-447E-DC2D-AB43862A57D9}"/>
          </ac:spMkLst>
        </pc:spChg>
      </pc:sldChg>
      <pc:sldChg chg="addSp delSp modSp mod modNotesTx">
        <pc:chgData name="akeem shadare" userId="9a98641ab4cd53fe" providerId="LiveId" clId="{E8C85EA8-5D26-481B-9E7C-E0A070EEE8A5}" dt="2025-02-09T04:05:35.273" v="7386" actId="27636"/>
        <pc:sldMkLst>
          <pc:docMk/>
          <pc:sldMk cId="37477001" sldId="257"/>
        </pc:sldMkLst>
        <pc:spChg chg="mod">
          <ac:chgData name="akeem shadare" userId="9a98641ab4cd53fe" providerId="LiveId" clId="{E8C85EA8-5D26-481B-9E7C-E0A070EEE8A5}" dt="2025-02-09T04:05:35.273" v="7386" actId="27636"/>
          <ac:spMkLst>
            <pc:docMk/>
            <pc:sldMk cId="37477001" sldId="257"/>
            <ac:spMk id="2" creationId="{F908B35E-3ACE-BFA4-99C2-FC6F409306AE}"/>
          </ac:spMkLst>
        </pc:spChg>
        <pc:picChg chg="add mod ord">
          <ac:chgData name="akeem shadare" userId="9a98641ab4cd53fe" providerId="LiveId" clId="{E8C85EA8-5D26-481B-9E7C-E0A070EEE8A5}" dt="2025-02-05T22:15:05.017" v="111" actId="1076"/>
          <ac:picMkLst>
            <pc:docMk/>
            <pc:sldMk cId="37477001" sldId="257"/>
            <ac:picMk id="11" creationId="{4AD7AF86-D6AD-A7AD-E26A-DA89ED62E850}"/>
          </ac:picMkLst>
        </pc:picChg>
      </pc:sldChg>
      <pc:sldChg chg="addSp delSp modSp new mod modNotesTx">
        <pc:chgData name="akeem shadare" userId="9a98641ab4cd53fe" providerId="LiveId" clId="{E8C85EA8-5D26-481B-9E7C-E0A070EEE8A5}" dt="2025-02-12T17:51:57.447" v="7473" actId="6549"/>
        <pc:sldMkLst>
          <pc:docMk/>
          <pc:sldMk cId="2041070484" sldId="258"/>
        </pc:sldMkLst>
        <pc:spChg chg="mod">
          <ac:chgData name="akeem shadare" userId="9a98641ab4cd53fe" providerId="LiveId" clId="{E8C85EA8-5D26-481B-9E7C-E0A070EEE8A5}" dt="2025-02-09T04:05:35.282" v="7387" actId="27636"/>
          <ac:spMkLst>
            <pc:docMk/>
            <pc:sldMk cId="2041070484" sldId="258"/>
            <ac:spMk id="2" creationId="{022E62E8-5307-9323-C9FB-40861ECFCBBE}"/>
          </ac:spMkLst>
        </pc:spChg>
        <pc:picChg chg="add mod ord">
          <ac:chgData name="akeem shadare" userId="9a98641ab4cd53fe" providerId="LiveId" clId="{E8C85EA8-5D26-481B-9E7C-E0A070EEE8A5}" dt="2025-02-06T05:09:29.213" v="2111" actId="14100"/>
          <ac:picMkLst>
            <pc:docMk/>
            <pc:sldMk cId="2041070484" sldId="258"/>
            <ac:picMk id="15" creationId="{A09ACD34-A098-218D-43E9-45EDF2DC5169}"/>
          </ac:picMkLst>
        </pc:picChg>
      </pc:sldChg>
      <pc:sldChg chg="addSp delSp modSp new del mod">
        <pc:chgData name="akeem shadare" userId="9a98641ab4cd53fe" providerId="LiveId" clId="{E8C85EA8-5D26-481B-9E7C-E0A070EEE8A5}" dt="2025-02-08T06:23:56.973" v="7166" actId="2696"/>
        <pc:sldMkLst>
          <pc:docMk/>
          <pc:sldMk cId="1158797673" sldId="259"/>
        </pc:sldMkLst>
      </pc:sldChg>
      <pc:sldChg chg="addSp delSp modSp new mod">
        <pc:chgData name="akeem shadare" userId="9a98641ab4cd53fe" providerId="LiveId" clId="{E8C85EA8-5D26-481B-9E7C-E0A070EEE8A5}" dt="2025-02-09T04:05:35.289" v="7388" actId="27636"/>
        <pc:sldMkLst>
          <pc:docMk/>
          <pc:sldMk cId="529413656" sldId="260"/>
        </pc:sldMkLst>
        <pc:spChg chg="mod">
          <ac:chgData name="akeem shadare" userId="9a98641ab4cd53fe" providerId="LiveId" clId="{E8C85EA8-5D26-481B-9E7C-E0A070EEE8A5}" dt="2025-02-09T04:05:35.289" v="7388" actId="27636"/>
          <ac:spMkLst>
            <pc:docMk/>
            <pc:sldMk cId="529413656" sldId="260"/>
            <ac:spMk id="2" creationId="{5E82E156-1A97-CAB7-7096-65F6978FA36D}"/>
          </ac:spMkLst>
        </pc:spChg>
        <pc:picChg chg="add mod ord">
          <ac:chgData name="akeem shadare" userId="9a98641ab4cd53fe" providerId="LiveId" clId="{E8C85EA8-5D26-481B-9E7C-E0A070EEE8A5}" dt="2025-02-05T22:17:51.128" v="265" actId="14100"/>
          <ac:picMkLst>
            <pc:docMk/>
            <pc:sldMk cId="529413656" sldId="260"/>
            <ac:picMk id="13" creationId="{B94DEDC4-837C-55F6-8634-7A40B268DDBA}"/>
          </ac:picMkLst>
        </pc:picChg>
      </pc:sldChg>
      <pc:sldChg chg="addSp delSp modSp new mod modNotesTx">
        <pc:chgData name="akeem shadare" userId="9a98641ab4cd53fe" providerId="LiveId" clId="{E8C85EA8-5D26-481B-9E7C-E0A070EEE8A5}" dt="2025-02-12T17:56:14.433" v="7545" actId="6549"/>
        <pc:sldMkLst>
          <pc:docMk/>
          <pc:sldMk cId="345743594" sldId="261"/>
        </pc:sldMkLst>
        <pc:spChg chg="mod">
          <ac:chgData name="akeem shadare" userId="9a98641ab4cd53fe" providerId="LiveId" clId="{E8C85EA8-5D26-481B-9E7C-E0A070EEE8A5}" dt="2025-02-07T03:45:19.177" v="5078" actId="14100"/>
          <ac:spMkLst>
            <pc:docMk/>
            <pc:sldMk cId="345743594" sldId="261"/>
            <ac:spMk id="2" creationId="{CE04EF60-C53A-AC0D-BAA0-C1D28D5FFEBB}"/>
          </ac:spMkLst>
        </pc:spChg>
        <pc:spChg chg="add del mod">
          <ac:chgData name="akeem shadare" userId="9a98641ab4cd53fe" providerId="LiveId" clId="{E8C85EA8-5D26-481B-9E7C-E0A070EEE8A5}" dt="2025-02-12T17:52:37.264" v="7476"/>
          <ac:spMkLst>
            <pc:docMk/>
            <pc:sldMk cId="345743594" sldId="261"/>
            <ac:spMk id="3" creationId="{133BDCB5-8C2F-EDB2-F6E1-25A529C58970}"/>
          </ac:spMkLst>
        </pc:spChg>
        <pc:spChg chg="add del mod">
          <ac:chgData name="akeem shadare" userId="9a98641ab4cd53fe" providerId="LiveId" clId="{E8C85EA8-5D26-481B-9E7C-E0A070EEE8A5}" dt="2025-02-12T17:55:14.559" v="7490" actId="478"/>
          <ac:spMkLst>
            <pc:docMk/>
            <pc:sldMk cId="345743594" sldId="261"/>
            <ac:spMk id="4" creationId="{524D6748-9FE3-12F6-A369-F1AE4557B92E}"/>
          </ac:spMkLst>
        </pc:spChg>
        <pc:picChg chg="add mod ord">
          <ac:chgData name="akeem shadare" userId="9a98641ab4cd53fe" providerId="LiveId" clId="{E8C85EA8-5D26-481B-9E7C-E0A070EEE8A5}" dt="2025-02-12T17:54:49.873" v="7487" actId="14100"/>
          <ac:picMkLst>
            <pc:docMk/>
            <pc:sldMk cId="345743594" sldId="261"/>
            <ac:picMk id="5" creationId="{C757F11C-65F3-E1D3-4E98-5720591D0A8A}"/>
          </ac:picMkLst>
        </pc:picChg>
      </pc:sldChg>
      <pc:sldChg chg="addSp delSp modSp new mod modNotesTx">
        <pc:chgData name="akeem shadare" userId="9a98641ab4cd53fe" providerId="LiveId" clId="{E8C85EA8-5D26-481B-9E7C-E0A070EEE8A5}" dt="2025-02-09T04:16:55.170" v="7396"/>
        <pc:sldMkLst>
          <pc:docMk/>
          <pc:sldMk cId="339913330" sldId="262"/>
        </pc:sldMkLst>
        <pc:spChg chg="mod">
          <ac:chgData name="akeem shadare" userId="9a98641ab4cd53fe" providerId="LiveId" clId="{E8C85EA8-5D26-481B-9E7C-E0A070EEE8A5}" dt="2025-02-09T04:10:55.145" v="7392" actId="20577"/>
          <ac:spMkLst>
            <pc:docMk/>
            <pc:sldMk cId="339913330" sldId="262"/>
            <ac:spMk id="2" creationId="{BC0D21CC-9CBE-0958-2E9E-E6A1CB23759A}"/>
          </ac:spMkLst>
        </pc:spChg>
        <pc:picChg chg="add mod ord">
          <ac:chgData name="akeem shadare" userId="9a98641ab4cd53fe" providerId="LiveId" clId="{E8C85EA8-5D26-481B-9E7C-E0A070EEE8A5}" dt="2025-02-07T03:43:50.489" v="5027" actId="14100"/>
          <ac:picMkLst>
            <pc:docMk/>
            <pc:sldMk cId="339913330" sldId="262"/>
            <ac:picMk id="5" creationId="{7E14709A-6568-EA42-2E21-16E61F8FFF76}"/>
          </ac:picMkLst>
        </pc:picChg>
      </pc:sldChg>
      <pc:sldChg chg="modSp new mod ord">
        <pc:chgData name="akeem shadare" userId="9a98641ab4cd53fe" providerId="LiveId" clId="{E8C85EA8-5D26-481B-9E7C-E0A070EEE8A5}" dt="2025-02-09T04:05:35.252" v="7385" actId="27636"/>
        <pc:sldMkLst>
          <pc:docMk/>
          <pc:sldMk cId="810151767" sldId="263"/>
        </pc:sldMkLst>
        <pc:spChg chg="mod">
          <ac:chgData name="akeem shadare" userId="9a98641ab4cd53fe" providerId="LiveId" clId="{E8C85EA8-5D26-481B-9E7C-E0A070EEE8A5}" dt="2025-02-09T04:05:35.252" v="7385" actId="27636"/>
          <ac:spMkLst>
            <pc:docMk/>
            <pc:sldMk cId="810151767" sldId="263"/>
            <ac:spMk id="2" creationId="{F8DAD475-CCD8-F19C-6DFF-ECB0F5E6FE31}"/>
          </ac:spMkLst>
        </pc:spChg>
        <pc:spChg chg="mod">
          <ac:chgData name="akeem shadare" userId="9a98641ab4cd53fe" providerId="LiveId" clId="{E8C85EA8-5D26-481B-9E7C-E0A070EEE8A5}" dt="2025-02-08T06:39:34.875" v="7383" actId="1076"/>
          <ac:spMkLst>
            <pc:docMk/>
            <pc:sldMk cId="810151767" sldId="263"/>
            <ac:spMk id="3" creationId="{52BBE36E-9BE4-3BB3-3B32-9ADCBAAA5FEB}"/>
          </ac:spMkLst>
        </pc:spChg>
      </pc:sldChg>
      <pc:sldChg chg="modSp new mod">
        <pc:chgData name="akeem shadare" userId="9a98641ab4cd53fe" providerId="LiveId" clId="{E8C85EA8-5D26-481B-9E7C-E0A070EEE8A5}" dt="2025-02-12T17:56:32.264" v="7546" actId="14100"/>
        <pc:sldMkLst>
          <pc:docMk/>
          <pc:sldMk cId="1925515494" sldId="264"/>
        </pc:sldMkLst>
        <pc:spChg chg="mod">
          <ac:chgData name="akeem shadare" userId="9a98641ab4cd53fe" providerId="LiveId" clId="{E8C85EA8-5D26-481B-9E7C-E0A070EEE8A5}" dt="2025-02-09T04:05:35.298" v="7389" actId="27636"/>
          <ac:spMkLst>
            <pc:docMk/>
            <pc:sldMk cId="1925515494" sldId="264"/>
            <ac:spMk id="2" creationId="{87AE1EAD-9905-D64B-F73A-6DA3FABB6E12}"/>
          </ac:spMkLst>
        </pc:spChg>
        <pc:spChg chg="mod">
          <ac:chgData name="akeem shadare" userId="9a98641ab4cd53fe" providerId="LiveId" clId="{E8C85EA8-5D26-481B-9E7C-E0A070EEE8A5}" dt="2025-02-12T17:56:32.264" v="7546" actId="14100"/>
          <ac:spMkLst>
            <pc:docMk/>
            <pc:sldMk cId="1925515494" sldId="264"/>
            <ac:spMk id="3" creationId="{D9014FA0-D6CD-FD24-5CC6-21FD549D0BE8}"/>
          </ac:spMkLst>
        </pc:spChg>
      </pc:sldChg>
      <pc:sldChg chg="modSp new mod">
        <pc:chgData name="akeem shadare" userId="9a98641ab4cd53fe" providerId="LiveId" clId="{E8C85EA8-5D26-481B-9E7C-E0A070EEE8A5}" dt="2025-02-08T06:38:45.786" v="7376" actId="2711"/>
        <pc:sldMkLst>
          <pc:docMk/>
          <pc:sldMk cId="637208686" sldId="265"/>
        </pc:sldMkLst>
        <pc:spChg chg="mod">
          <ac:chgData name="akeem shadare" userId="9a98641ab4cd53fe" providerId="LiveId" clId="{E8C85EA8-5D26-481B-9E7C-E0A070EEE8A5}" dt="2025-02-07T04:18:39.267" v="6389" actId="113"/>
          <ac:spMkLst>
            <pc:docMk/>
            <pc:sldMk cId="637208686" sldId="265"/>
            <ac:spMk id="2" creationId="{9D13210C-D90D-6E35-F1C7-84FE31942BF8}"/>
          </ac:spMkLst>
        </pc:spChg>
        <pc:spChg chg="mod">
          <ac:chgData name="akeem shadare" userId="9a98641ab4cd53fe" providerId="LiveId" clId="{E8C85EA8-5D26-481B-9E7C-E0A070EEE8A5}" dt="2025-02-08T06:38:45.786" v="7376" actId="2711"/>
          <ac:spMkLst>
            <pc:docMk/>
            <pc:sldMk cId="637208686" sldId="265"/>
            <ac:spMk id="3" creationId="{7F54454C-AFF9-78BB-B90A-912BCCFE825C}"/>
          </ac:spMkLst>
        </pc:spChg>
      </pc:sldChg>
      <pc:sldChg chg="modSp new mod">
        <pc:chgData name="akeem shadare" userId="9a98641ab4cd53fe" providerId="LiveId" clId="{E8C85EA8-5D26-481B-9E7C-E0A070EEE8A5}" dt="2025-02-08T06:38:15.533" v="7374" actId="2711"/>
        <pc:sldMkLst>
          <pc:docMk/>
          <pc:sldMk cId="2784144320" sldId="266"/>
        </pc:sldMkLst>
        <pc:spChg chg="mod">
          <ac:chgData name="akeem shadare" userId="9a98641ab4cd53fe" providerId="LiveId" clId="{E8C85EA8-5D26-481B-9E7C-E0A070EEE8A5}" dt="2025-02-08T05:55:24.142" v="6985" actId="14100"/>
          <ac:spMkLst>
            <pc:docMk/>
            <pc:sldMk cId="2784144320" sldId="266"/>
            <ac:spMk id="2" creationId="{BD153FC1-91AD-C7E5-3C3A-64EFAA8DE231}"/>
          </ac:spMkLst>
        </pc:spChg>
        <pc:spChg chg="mod">
          <ac:chgData name="akeem shadare" userId="9a98641ab4cd53fe" providerId="LiveId" clId="{E8C85EA8-5D26-481B-9E7C-E0A070EEE8A5}" dt="2025-02-08T06:38:15.533" v="7374" actId="2711"/>
          <ac:spMkLst>
            <pc:docMk/>
            <pc:sldMk cId="2784144320" sldId="266"/>
            <ac:spMk id="3" creationId="{9270A13C-4236-A030-CD7F-8336C7F68519}"/>
          </ac:spMkLst>
        </pc:spChg>
      </pc:sldChg>
      <pc:sldChg chg="addSp delSp modSp new mod">
        <pc:chgData name="akeem shadare" userId="9a98641ab4cd53fe" providerId="LiveId" clId="{E8C85EA8-5D26-481B-9E7C-E0A070EEE8A5}" dt="2025-02-12T18:01:50.688" v="7563" actId="14100"/>
        <pc:sldMkLst>
          <pc:docMk/>
          <pc:sldMk cId="3815615065" sldId="267"/>
        </pc:sldMkLst>
        <pc:spChg chg="mod">
          <ac:chgData name="akeem shadare" userId="9a98641ab4cd53fe" providerId="LiveId" clId="{E8C85EA8-5D26-481B-9E7C-E0A070EEE8A5}" dt="2025-02-12T17:56:58.280" v="7547" actId="14100"/>
          <ac:spMkLst>
            <pc:docMk/>
            <pc:sldMk cId="3815615065" sldId="267"/>
            <ac:spMk id="2" creationId="{5C79502F-B3A5-6973-5AC5-66533460B80B}"/>
          </ac:spMkLst>
        </pc:spChg>
        <pc:graphicFrameChg chg="add mod">
          <ac:chgData name="akeem shadare" userId="9a98641ab4cd53fe" providerId="LiveId" clId="{E8C85EA8-5D26-481B-9E7C-E0A070EEE8A5}" dt="2025-02-12T18:01:50.688" v="7563" actId="14100"/>
          <ac:graphicFrameMkLst>
            <pc:docMk/>
            <pc:sldMk cId="3815615065" sldId="267"/>
            <ac:graphicFrameMk id="4" creationId="{13FB3C6D-1E1E-60A9-9A45-16515A8F8F5B}"/>
          </ac:graphicFrameMkLst>
        </pc:graphicFrameChg>
      </pc:sldChg>
      <pc:sldChg chg="addSp delSp modSp new mod ord">
        <pc:chgData name="akeem shadare" userId="9a98641ab4cd53fe" providerId="LiveId" clId="{E8C85EA8-5D26-481B-9E7C-E0A070EEE8A5}" dt="2025-02-12T18:00:54.159" v="7558" actId="255"/>
        <pc:sldMkLst>
          <pc:docMk/>
          <pc:sldMk cId="2662514536" sldId="268"/>
        </pc:sldMkLst>
        <pc:spChg chg="mod">
          <ac:chgData name="akeem shadare" userId="9a98641ab4cd53fe" providerId="LiveId" clId="{E8C85EA8-5D26-481B-9E7C-E0A070EEE8A5}" dt="2025-02-08T06:27:37.192" v="7208" actId="14100"/>
          <ac:spMkLst>
            <pc:docMk/>
            <pc:sldMk cId="2662514536" sldId="268"/>
            <ac:spMk id="2" creationId="{03AFADA3-70C9-C849-ADAA-7567515AB96B}"/>
          </ac:spMkLst>
        </pc:spChg>
        <pc:graphicFrameChg chg="add mod">
          <ac:chgData name="akeem shadare" userId="9a98641ab4cd53fe" providerId="LiveId" clId="{E8C85EA8-5D26-481B-9E7C-E0A070EEE8A5}" dt="2025-02-12T18:00:54.159" v="7558" actId="255"/>
          <ac:graphicFrameMkLst>
            <pc:docMk/>
            <pc:sldMk cId="2662514536" sldId="268"/>
            <ac:graphicFrameMk id="4" creationId="{91590B36-F6F9-5212-F220-9E6306AF6A08}"/>
          </ac:graphicFrameMkLst>
        </pc:graphicFrameChg>
      </pc:sldChg>
      <pc:sldChg chg="modSp new mod">
        <pc:chgData name="akeem shadare" userId="9a98641ab4cd53fe" providerId="LiveId" clId="{E8C85EA8-5D26-481B-9E7C-E0A070EEE8A5}" dt="2025-02-12T17:51:30.926" v="7472" actId="14100"/>
        <pc:sldMkLst>
          <pc:docMk/>
          <pc:sldMk cId="241467865" sldId="269"/>
        </pc:sldMkLst>
        <pc:spChg chg="mod">
          <ac:chgData name="akeem shadare" userId="9a98641ab4cd53fe" providerId="LiveId" clId="{E8C85EA8-5D26-481B-9E7C-E0A070EEE8A5}" dt="2025-02-12T17:51:30.926" v="7472" actId="14100"/>
          <ac:spMkLst>
            <pc:docMk/>
            <pc:sldMk cId="241467865" sldId="269"/>
            <ac:spMk id="2" creationId="{A64E9EC0-82CA-C62F-5D54-640A36336127}"/>
          </ac:spMkLst>
        </pc:spChg>
        <pc:spChg chg="mod">
          <ac:chgData name="akeem shadare" userId="9a98641ab4cd53fe" providerId="LiveId" clId="{E8C85EA8-5D26-481B-9E7C-E0A070EEE8A5}" dt="2025-02-12T17:48:39.148" v="7403" actId="27636"/>
          <ac:spMkLst>
            <pc:docMk/>
            <pc:sldMk cId="241467865" sldId="269"/>
            <ac:spMk id="3" creationId="{319146D1-DDCC-4311-273B-52EB0355E8E9}"/>
          </ac:spMkLst>
        </pc:spChg>
      </pc:sldChg>
      <pc:sldChg chg="modSp new mod">
        <pc:chgData name="akeem shadare" userId="9a98641ab4cd53fe" providerId="LiveId" clId="{E8C85EA8-5D26-481B-9E7C-E0A070EEE8A5}" dt="2025-02-12T17:56:07.075" v="7544" actId="20577"/>
        <pc:sldMkLst>
          <pc:docMk/>
          <pc:sldMk cId="719338544" sldId="270"/>
        </pc:sldMkLst>
        <pc:spChg chg="mod">
          <ac:chgData name="akeem shadare" userId="9a98641ab4cd53fe" providerId="LiveId" clId="{E8C85EA8-5D26-481B-9E7C-E0A070EEE8A5}" dt="2025-02-12T17:56:07.075" v="7544" actId="20577"/>
          <ac:spMkLst>
            <pc:docMk/>
            <pc:sldMk cId="719338544" sldId="270"/>
            <ac:spMk id="2" creationId="{454910EF-7C93-2E2A-F14D-EE689D430FDA}"/>
          </ac:spMkLst>
        </pc:spChg>
        <pc:spChg chg="mod">
          <ac:chgData name="akeem shadare" userId="9a98641ab4cd53fe" providerId="LiveId" clId="{E8C85EA8-5D26-481B-9E7C-E0A070EEE8A5}" dt="2025-02-12T17:55:39.203" v="7493" actId="255"/>
          <ac:spMkLst>
            <pc:docMk/>
            <pc:sldMk cId="719338544" sldId="270"/>
            <ac:spMk id="3" creationId="{4D1DBC46-B728-514F-9618-B08166FAFB13}"/>
          </ac:spMkLst>
        </pc:spChg>
      </pc:sldChg>
      <pc:sldChg chg="modSp new mod">
        <pc:chgData name="akeem shadare" userId="9a98641ab4cd53fe" providerId="LiveId" clId="{E8C85EA8-5D26-481B-9E7C-E0A070EEE8A5}" dt="2025-02-12T17:58:16.103" v="7555" actId="255"/>
        <pc:sldMkLst>
          <pc:docMk/>
          <pc:sldMk cId="1566697625" sldId="271"/>
        </pc:sldMkLst>
        <pc:spChg chg="mod">
          <ac:chgData name="akeem shadare" userId="9a98641ab4cd53fe" providerId="LiveId" clId="{E8C85EA8-5D26-481B-9E7C-E0A070EEE8A5}" dt="2025-02-12T17:57:50.100" v="7553" actId="20577"/>
          <ac:spMkLst>
            <pc:docMk/>
            <pc:sldMk cId="1566697625" sldId="271"/>
            <ac:spMk id="2" creationId="{EC999128-47CD-F97C-C0FA-FB3145F84ED9}"/>
          </ac:spMkLst>
        </pc:spChg>
        <pc:spChg chg="mod">
          <ac:chgData name="akeem shadare" userId="9a98641ab4cd53fe" providerId="LiveId" clId="{E8C85EA8-5D26-481B-9E7C-E0A070EEE8A5}" dt="2025-02-12T17:58:16.103" v="7555" actId="255"/>
          <ac:spMkLst>
            <pc:docMk/>
            <pc:sldMk cId="1566697625" sldId="271"/>
            <ac:spMk id="3" creationId="{37ACFEDB-F57F-619A-A9FC-C553FEC13FD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keem\Downloads\scarf.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keem\Downloads\scarf.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1" dirty="0"/>
              <a:t>Number</a:t>
            </a:r>
            <a:r>
              <a:rPr lang="en-US" sz="1800" b="1" baseline="0" dirty="0"/>
              <a:t> of Industrial Robots Installed </a:t>
            </a:r>
            <a:endParaRPr lang="en-US" sz="1800" b="1" dirty="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Sheet1!$B$2</c:f>
              <c:strCache>
                <c:ptCount val="1"/>
                <c:pt idx="0">
                  <c:v>China</c:v>
                </c:pt>
              </c:strCache>
            </c:strRef>
          </c:tx>
          <c:spPr>
            <a:ln w="28575" cap="rnd">
              <a:solidFill>
                <a:schemeClr val="accent1"/>
              </a:solidFill>
              <a:round/>
            </a:ln>
            <a:effectLst/>
          </c:spPr>
          <c:marker>
            <c:symbol val="none"/>
          </c:marker>
          <c:dLbls>
            <c:dLbl>
              <c:idx val="2"/>
              <c:layout>
                <c:manualLayout>
                  <c:x val="-4.5388888888888888E-2"/>
                  <c:y val="5.32753718285214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BF0-4D35-9B29-DD79AE285512}"/>
                </c:ext>
              </c:extLst>
            </c:dLbl>
            <c:dLbl>
              <c:idx val="3"/>
              <c:layout>
                <c:manualLayout>
                  <c:x val="-4.2611111111111113E-2"/>
                  <c:y val="5.79050014581510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BF0-4D35-9B29-DD79AE28551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Sheet1!$A$3:$A$8</c:f>
              <c:numCache>
                <c:formatCode>General</c:formatCode>
                <c:ptCount val="6"/>
                <c:pt idx="0">
                  <c:v>2016</c:v>
                </c:pt>
                <c:pt idx="1">
                  <c:v>2017</c:v>
                </c:pt>
                <c:pt idx="2">
                  <c:v>2018</c:v>
                </c:pt>
                <c:pt idx="3">
                  <c:v>2019</c:v>
                </c:pt>
                <c:pt idx="4">
                  <c:v>2020</c:v>
                </c:pt>
                <c:pt idx="5">
                  <c:v>2021</c:v>
                </c:pt>
              </c:numCache>
            </c:numRef>
          </c:cat>
          <c:val>
            <c:numRef>
              <c:f>Sheet1!$B$3:$B$8</c:f>
              <c:numCache>
                <c:formatCode>General</c:formatCode>
                <c:ptCount val="6"/>
                <c:pt idx="0">
                  <c:v>100</c:v>
                </c:pt>
                <c:pt idx="1">
                  <c:v>150</c:v>
                </c:pt>
                <c:pt idx="2">
                  <c:v>150</c:v>
                </c:pt>
                <c:pt idx="3">
                  <c:v>150</c:v>
                </c:pt>
                <c:pt idx="4">
                  <c:v>185</c:v>
                </c:pt>
                <c:pt idx="5">
                  <c:v>268</c:v>
                </c:pt>
              </c:numCache>
            </c:numRef>
          </c:val>
          <c:smooth val="0"/>
          <c:extLst>
            <c:ext xmlns:c16="http://schemas.microsoft.com/office/drawing/2014/chart" uri="{C3380CC4-5D6E-409C-BE32-E72D297353CC}">
              <c16:uniqueId val="{00000002-8BF0-4D35-9B29-DD79AE285512}"/>
            </c:ext>
          </c:extLst>
        </c:ser>
        <c:ser>
          <c:idx val="1"/>
          <c:order val="1"/>
          <c:tx>
            <c:strRef>
              <c:f>Sheet1!$C$2</c:f>
              <c:strCache>
                <c:ptCount val="1"/>
                <c:pt idx="0">
                  <c:v>Rest of the world</c:v>
                </c:pt>
              </c:strCache>
            </c:strRef>
          </c:tx>
          <c:spPr>
            <a:ln w="28575" cap="rnd">
              <a:solidFill>
                <a:schemeClr val="accent2"/>
              </a:solidFill>
              <a:round/>
            </a:ln>
            <a:effectLst/>
          </c:spPr>
          <c:marker>
            <c:symbol val="none"/>
          </c:marker>
          <c:dLbls>
            <c:dLbl>
              <c:idx val="4"/>
              <c:layout>
                <c:manualLayout>
                  <c:x val="-4.2611111111111009E-2"/>
                  <c:y val="9.49420384951881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BF0-4D35-9B29-DD79AE285512}"/>
                </c:ext>
              </c:extLst>
            </c:dLbl>
            <c:dLbl>
              <c:idx val="5"/>
              <c:layout>
                <c:manualLayout>
                  <c:x val="-3.4277777777777775E-2"/>
                  <c:y val="2.549759405074365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BF0-4D35-9B29-DD79AE28551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Sheet1!$A$3:$A$8</c:f>
              <c:numCache>
                <c:formatCode>General</c:formatCode>
                <c:ptCount val="6"/>
                <c:pt idx="0">
                  <c:v>2016</c:v>
                </c:pt>
                <c:pt idx="1">
                  <c:v>2017</c:v>
                </c:pt>
                <c:pt idx="2">
                  <c:v>2018</c:v>
                </c:pt>
                <c:pt idx="3">
                  <c:v>2019</c:v>
                </c:pt>
                <c:pt idx="4">
                  <c:v>2020</c:v>
                </c:pt>
                <c:pt idx="5">
                  <c:v>2021</c:v>
                </c:pt>
              </c:numCache>
            </c:numRef>
          </c:cat>
          <c:val>
            <c:numRef>
              <c:f>Sheet1!$C$3:$C$8</c:f>
              <c:numCache>
                <c:formatCode>General</c:formatCode>
                <c:ptCount val="6"/>
                <c:pt idx="0">
                  <c:v>210</c:v>
                </c:pt>
                <c:pt idx="1">
                  <c:v>240</c:v>
                </c:pt>
                <c:pt idx="2">
                  <c:v>255</c:v>
                </c:pt>
                <c:pt idx="3">
                  <c:v>220</c:v>
                </c:pt>
                <c:pt idx="4">
                  <c:v>200</c:v>
                </c:pt>
                <c:pt idx="5">
                  <c:v>249</c:v>
                </c:pt>
              </c:numCache>
            </c:numRef>
          </c:val>
          <c:smooth val="0"/>
          <c:extLst>
            <c:ext xmlns:c16="http://schemas.microsoft.com/office/drawing/2014/chart" uri="{C3380CC4-5D6E-409C-BE32-E72D297353CC}">
              <c16:uniqueId val="{00000005-8BF0-4D35-9B29-DD79AE285512}"/>
            </c:ext>
          </c:extLst>
        </c:ser>
        <c:dLbls>
          <c:dLblPos val="t"/>
          <c:showLegendKey val="0"/>
          <c:showVal val="1"/>
          <c:showCatName val="0"/>
          <c:showSerName val="0"/>
          <c:showPercent val="0"/>
          <c:showBubbleSize val="0"/>
        </c:dLbls>
        <c:smooth val="0"/>
        <c:axId val="1398332079"/>
        <c:axId val="1398332559"/>
      </c:lineChart>
      <c:catAx>
        <c:axId val="1398332079"/>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b="1" dirty="0"/>
                  <a:t>Year</a:t>
                </a:r>
              </a:p>
            </c:rich>
          </c:tx>
          <c:layout>
            <c:manualLayout>
              <c:xMode val="edge"/>
              <c:yMode val="edge"/>
              <c:x val="0.4985859726217845"/>
              <c:y val="0.8280882735608722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8332559"/>
        <c:crosses val="autoZero"/>
        <c:auto val="1"/>
        <c:lblAlgn val="ctr"/>
        <c:lblOffset val="100"/>
        <c:noMultiLvlLbl val="0"/>
      </c:catAx>
      <c:valAx>
        <c:axId val="1398332559"/>
        <c:scaling>
          <c:orientation val="minMax"/>
        </c:scaling>
        <c:delete val="0"/>
        <c:axPos val="l"/>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b="1" baseline="0" dirty="0"/>
                  <a:t># of Robots (in 1000s</a:t>
                </a:r>
                <a:r>
                  <a:rPr lang="en-US" sz="1200" baseline="0" dirty="0"/>
                  <a:t>)</a:t>
                </a:r>
                <a:endParaRPr lang="en-US" sz="1200" dirty="0"/>
              </a:p>
            </c:rich>
          </c:tx>
          <c:layout>
            <c:manualLayout>
              <c:xMode val="edge"/>
              <c:yMode val="edge"/>
              <c:x val="2.313624678663239E-2"/>
              <c:y val="0.22720868670859398"/>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83320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1" dirty="0"/>
              <a:t>Number</a:t>
            </a:r>
            <a:r>
              <a:rPr lang="en-US" sz="1800" b="1" baseline="0" dirty="0"/>
              <a:t> of Deaths from Heroin</a:t>
            </a:r>
            <a:endParaRPr lang="en-US" sz="1800" b="1" dirty="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Sheet1!$B$19</c:f>
              <c:strCache>
                <c:ptCount val="1"/>
                <c:pt idx="0">
                  <c:v>Male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Sheet1!$A$20:$A$32</c:f>
              <c:numCache>
                <c:formatCode>General</c:formatCode>
                <c:ptCount val="13"/>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numCache>
            </c:numRef>
          </c:cat>
          <c:val>
            <c:numRef>
              <c:f>Sheet1!$B$20:$B$32</c:f>
              <c:numCache>
                <c:formatCode>General</c:formatCode>
                <c:ptCount val="13"/>
                <c:pt idx="0">
                  <c:v>1800</c:v>
                </c:pt>
                <c:pt idx="1">
                  <c:v>2000</c:v>
                </c:pt>
                <c:pt idx="2">
                  <c:v>2000</c:v>
                </c:pt>
                <c:pt idx="3">
                  <c:v>1900</c:v>
                </c:pt>
                <c:pt idx="4">
                  <c:v>2000</c:v>
                </c:pt>
                <c:pt idx="5">
                  <c:v>2100</c:v>
                </c:pt>
                <c:pt idx="6">
                  <c:v>2300</c:v>
                </c:pt>
                <c:pt idx="7">
                  <c:v>2400</c:v>
                </c:pt>
                <c:pt idx="8">
                  <c:v>2500</c:v>
                </c:pt>
                <c:pt idx="9">
                  <c:v>2450</c:v>
                </c:pt>
                <c:pt idx="10">
                  <c:v>3200</c:v>
                </c:pt>
                <c:pt idx="11">
                  <c:v>4000</c:v>
                </c:pt>
                <c:pt idx="12">
                  <c:v>6000</c:v>
                </c:pt>
              </c:numCache>
            </c:numRef>
          </c:val>
          <c:extLst>
            <c:ext xmlns:c16="http://schemas.microsoft.com/office/drawing/2014/chart" uri="{C3380CC4-5D6E-409C-BE32-E72D297353CC}">
              <c16:uniqueId val="{00000000-363D-483E-9768-10F125D19050}"/>
            </c:ext>
          </c:extLst>
        </c:ser>
        <c:ser>
          <c:idx val="1"/>
          <c:order val="1"/>
          <c:tx>
            <c:strRef>
              <c:f>Sheet1!$C$19</c:f>
              <c:strCache>
                <c:ptCount val="1"/>
                <c:pt idx="0">
                  <c:v>Female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Sheet1!$A$20:$A$32</c:f>
              <c:numCache>
                <c:formatCode>General</c:formatCode>
                <c:ptCount val="13"/>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numCache>
            </c:numRef>
          </c:cat>
          <c:val>
            <c:numRef>
              <c:f>Sheet1!$C$20:$C$32</c:f>
              <c:numCache>
                <c:formatCode>General</c:formatCode>
                <c:ptCount val="13"/>
                <c:pt idx="0">
                  <c:v>200</c:v>
                </c:pt>
                <c:pt idx="1">
                  <c:v>200</c:v>
                </c:pt>
                <c:pt idx="2">
                  <c:v>200</c:v>
                </c:pt>
                <c:pt idx="3">
                  <c:v>200</c:v>
                </c:pt>
                <c:pt idx="4">
                  <c:v>200</c:v>
                </c:pt>
                <c:pt idx="5">
                  <c:v>200</c:v>
                </c:pt>
                <c:pt idx="6">
                  <c:v>200</c:v>
                </c:pt>
                <c:pt idx="7">
                  <c:v>300</c:v>
                </c:pt>
                <c:pt idx="8">
                  <c:v>300</c:v>
                </c:pt>
                <c:pt idx="9">
                  <c:v>300</c:v>
                </c:pt>
                <c:pt idx="10">
                  <c:v>500</c:v>
                </c:pt>
                <c:pt idx="11">
                  <c:v>1000</c:v>
                </c:pt>
                <c:pt idx="12">
                  <c:v>1200</c:v>
                </c:pt>
              </c:numCache>
            </c:numRef>
          </c:val>
          <c:extLst>
            <c:ext xmlns:c16="http://schemas.microsoft.com/office/drawing/2014/chart" uri="{C3380CC4-5D6E-409C-BE32-E72D297353CC}">
              <c16:uniqueId val="{00000001-363D-483E-9768-10F125D19050}"/>
            </c:ext>
          </c:extLst>
        </c:ser>
        <c:dLbls>
          <c:dLblPos val="ctr"/>
          <c:showLegendKey val="0"/>
          <c:showVal val="1"/>
          <c:showCatName val="0"/>
          <c:showSerName val="0"/>
          <c:showPercent val="0"/>
          <c:showBubbleSize val="0"/>
        </c:dLbls>
        <c:gapWidth val="150"/>
        <c:overlap val="100"/>
        <c:axId val="142613215"/>
        <c:axId val="142610335"/>
      </c:barChart>
      <c:catAx>
        <c:axId val="142613215"/>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sz="1400" b="1" dirty="0"/>
                  <a:t>Year</a:t>
                </a:r>
              </a:p>
            </c:rich>
          </c:tx>
          <c:layout>
            <c:manualLayout>
              <c:xMode val="edge"/>
              <c:yMode val="edge"/>
              <c:x val="0.48365057628665975"/>
              <c:y val="0.86869027411798394"/>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610335"/>
        <c:crosses val="autoZero"/>
        <c:auto val="1"/>
        <c:lblAlgn val="ctr"/>
        <c:lblOffset val="100"/>
        <c:noMultiLvlLbl val="0"/>
      </c:catAx>
      <c:valAx>
        <c:axId val="142610335"/>
        <c:scaling>
          <c:orientation val="minMax"/>
        </c:scaling>
        <c:delete val="0"/>
        <c:axPos val="l"/>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sz="1200" b="1" dirty="0"/>
                  <a:t>Number</a:t>
                </a:r>
                <a:r>
                  <a:rPr lang="en-US" sz="1200" b="1" baseline="0" dirty="0"/>
                  <a:t> of deaths</a:t>
                </a:r>
                <a:endParaRPr lang="en-US" sz="1200" b="1" dirty="0"/>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6132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660A83-4EE1-4027-8BDF-EF3DBD5588E0}" type="datetimeFigureOut">
              <a:rPr lang="en-US" smtClean="0"/>
              <a:t>2/12/2025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DC9B3D-FBEB-4C2D-B2D6-19FE4C2F56C5}" type="slidenum">
              <a:rPr lang="en-US" smtClean="0"/>
              <a:t>‹#›</a:t>
            </a:fld>
            <a:endParaRPr lang="en-US" dirty="0"/>
          </a:p>
        </p:txBody>
      </p:sp>
    </p:spTree>
    <p:extLst>
      <p:ext uri="{BB962C8B-B14F-4D97-AF65-F5344CB8AC3E}">
        <p14:creationId xmlns:p14="http://schemas.microsoft.com/office/powerpoint/2010/main" val="3187720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C9B3D-FBEB-4C2D-B2D6-19FE4C2F56C5}" type="slidenum">
              <a:rPr lang="en-US" smtClean="0"/>
              <a:t>1</a:t>
            </a:fld>
            <a:endParaRPr lang="en-US" dirty="0"/>
          </a:p>
        </p:txBody>
      </p:sp>
    </p:spTree>
    <p:extLst>
      <p:ext uri="{BB962C8B-B14F-4D97-AF65-F5344CB8AC3E}">
        <p14:creationId xmlns:p14="http://schemas.microsoft.com/office/powerpoint/2010/main" val="368089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C9B3D-FBEB-4C2D-B2D6-19FE4C2F56C5}" type="slidenum">
              <a:rPr lang="en-US" smtClean="0"/>
              <a:t>2</a:t>
            </a:fld>
            <a:endParaRPr lang="en-US" dirty="0"/>
          </a:p>
        </p:txBody>
      </p:sp>
    </p:spTree>
    <p:extLst>
      <p:ext uri="{BB962C8B-B14F-4D97-AF65-F5344CB8AC3E}">
        <p14:creationId xmlns:p14="http://schemas.microsoft.com/office/powerpoint/2010/main" val="4024657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94DC9B3D-FBEB-4C2D-B2D6-19FE4C2F56C5}" type="slidenum">
              <a:rPr lang="en-US" smtClean="0"/>
              <a:t>3</a:t>
            </a:fld>
            <a:endParaRPr lang="en-US" dirty="0"/>
          </a:p>
        </p:txBody>
      </p:sp>
    </p:spTree>
    <p:extLst>
      <p:ext uri="{BB962C8B-B14F-4D97-AF65-F5344CB8AC3E}">
        <p14:creationId xmlns:p14="http://schemas.microsoft.com/office/powerpoint/2010/main" val="3657332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C9B3D-FBEB-4C2D-B2D6-19FE4C2F56C5}" type="slidenum">
              <a:rPr lang="en-US" smtClean="0"/>
              <a:t>6</a:t>
            </a:fld>
            <a:endParaRPr lang="en-US" dirty="0"/>
          </a:p>
        </p:txBody>
      </p:sp>
    </p:spTree>
    <p:extLst>
      <p:ext uri="{BB962C8B-B14F-4D97-AF65-F5344CB8AC3E}">
        <p14:creationId xmlns:p14="http://schemas.microsoft.com/office/powerpoint/2010/main" val="3035638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C9B3D-FBEB-4C2D-B2D6-19FE4C2F56C5}" type="slidenum">
              <a:rPr lang="en-US" smtClean="0"/>
              <a:t>8</a:t>
            </a:fld>
            <a:endParaRPr lang="en-US" dirty="0"/>
          </a:p>
        </p:txBody>
      </p:sp>
    </p:spTree>
    <p:extLst>
      <p:ext uri="{BB962C8B-B14F-4D97-AF65-F5344CB8AC3E}">
        <p14:creationId xmlns:p14="http://schemas.microsoft.com/office/powerpoint/2010/main" val="517225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C9B3D-FBEB-4C2D-B2D6-19FE4C2F56C5}" type="slidenum">
              <a:rPr lang="en-US" smtClean="0"/>
              <a:t>9</a:t>
            </a:fld>
            <a:endParaRPr lang="en-US" dirty="0"/>
          </a:p>
        </p:txBody>
      </p:sp>
    </p:spTree>
    <p:extLst>
      <p:ext uri="{BB962C8B-B14F-4D97-AF65-F5344CB8AC3E}">
        <p14:creationId xmlns:p14="http://schemas.microsoft.com/office/powerpoint/2010/main" val="3329857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800" b="0" i="0" u="none" strike="noStrike" baseline="0" dirty="0">
              <a:solidFill>
                <a:srgbClr val="000000"/>
              </a:solidFill>
              <a:latin typeface="Arial" panose="020B0604020202020204" pitchFamily="34" charset="0"/>
            </a:endParaRPr>
          </a:p>
        </p:txBody>
      </p:sp>
      <p:sp>
        <p:nvSpPr>
          <p:cNvPr id="4" name="Slide Number Placeholder 3"/>
          <p:cNvSpPr>
            <a:spLocks noGrp="1"/>
          </p:cNvSpPr>
          <p:nvPr>
            <p:ph type="sldNum" sz="quarter" idx="5"/>
          </p:nvPr>
        </p:nvSpPr>
        <p:spPr/>
        <p:txBody>
          <a:bodyPr/>
          <a:lstStyle/>
          <a:p>
            <a:fld id="{94DC9B3D-FBEB-4C2D-B2D6-19FE4C2F56C5}" type="slidenum">
              <a:rPr lang="en-US" smtClean="0"/>
              <a:t>10</a:t>
            </a:fld>
            <a:endParaRPr lang="en-US" dirty="0"/>
          </a:p>
        </p:txBody>
      </p:sp>
    </p:spTree>
    <p:extLst>
      <p:ext uri="{BB962C8B-B14F-4D97-AF65-F5344CB8AC3E}">
        <p14:creationId xmlns:p14="http://schemas.microsoft.com/office/powerpoint/2010/main" val="3684846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C9B3D-FBEB-4C2D-B2D6-19FE4C2F56C5}" type="slidenum">
              <a:rPr lang="en-US" smtClean="0"/>
              <a:t>13</a:t>
            </a:fld>
            <a:endParaRPr lang="en-US" dirty="0"/>
          </a:p>
        </p:txBody>
      </p:sp>
    </p:spTree>
    <p:extLst>
      <p:ext uri="{BB962C8B-B14F-4D97-AF65-F5344CB8AC3E}">
        <p14:creationId xmlns:p14="http://schemas.microsoft.com/office/powerpoint/2010/main" val="3303850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DC9B3D-FBEB-4C2D-B2D6-19FE4C2F56C5}" type="slidenum">
              <a:rPr lang="en-US" smtClean="0"/>
              <a:t>14</a:t>
            </a:fld>
            <a:endParaRPr lang="en-US" dirty="0"/>
          </a:p>
        </p:txBody>
      </p:sp>
    </p:spTree>
    <p:extLst>
      <p:ext uri="{BB962C8B-B14F-4D97-AF65-F5344CB8AC3E}">
        <p14:creationId xmlns:p14="http://schemas.microsoft.com/office/powerpoint/2010/main" val="3727847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8050D-FDC9-4C7A-B2D9-A79D7F12BF70}"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07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3701136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8050D-FDC9-4C7A-B2D9-A79D7F12BF70}"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693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1040290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4042655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125267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21372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BCEBEEC-AB5F-4CAF-A347-9DD0D8B6E2AE}" type="datetimeFigureOut">
              <a:rPr lang="en-US" smtClean="0"/>
              <a:t>2/12/2025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808050D-FDC9-4C7A-B2D9-A79D7F12BF70}" type="slidenum">
              <a:rPr lang="en-US" smtClean="0"/>
              <a:t>‹#›</a:t>
            </a:fld>
            <a:endParaRPr lang="en-US" dirty="0"/>
          </a:p>
        </p:txBody>
      </p:sp>
    </p:spTree>
    <p:extLst>
      <p:ext uri="{BB962C8B-B14F-4D97-AF65-F5344CB8AC3E}">
        <p14:creationId xmlns:p14="http://schemas.microsoft.com/office/powerpoint/2010/main" val="532151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2357305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2201538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CEBEEC-AB5F-4CAF-A347-9DD0D8B6E2AE}" type="datetimeFigureOut">
              <a:rPr lang="en-US" smtClean="0"/>
              <a:t>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08050D-FDC9-4C7A-B2D9-A79D7F12BF70}" type="slidenum">
              <a:rPr lang="en-US" smtClean="0"/>
              <a:t>‹#›</a:t>
            </a:fld>
            <a:endParaRPr lang="en-US" dirty="0"/>
          </a:p>
        </p:txBody>
      </p:sp>
    </p:spTree>
    <p:extLst>
      <p:ext uri="{BB962C8B-B14F-4D97-AF65-F5344CB8AC3E}">
        <p14:creationId xmlns:p14="http://schemas.microsoft.com/office/powerpoint/2010/main" val="3036801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BCEBEEC-AB5F-4CAF-A347-9DD0D8B6E2AE}" type="datetimeFigureOut">
              <a:rPr lang="en-US" smtClean="0"/>
              <a:t>2/12/2025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808050D-FDC9-4C7A-B2D9-A79D7F12BF70}"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116319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hai.stanford.edu/news/2023-state-ai-14-chart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studycorgi.com/drug-use-and-heroin-addiction-informative-speech/"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2EC84-6CB8-1EA4-3948-0AD592E0E962}"/>
              </a:ext>
            </a:extLst>
          </p:cNvPr>
          <p:cNvSpPr>
            <a:spLocks noGrp="1"/>
          </p:cNvSpPr>
          <p:nvPr>
            <p:ph type="ctrTitle"/>
          </p:nvPr>
        </p:nvSpPr>
        <p:spPr/>
        <p:txBody>
          <a:bodyPr>
            <a:normAutofit fontScale="90000"/>
          </a:bodyPr>
          <a:lstStyle/>
          <a:p>
            <a:r>
              <a:rPr lang="en-US" dirty="0"/>
              <a:t>CIDM 6312- Seminar in Information Visualization.</a:t>
            </a:r>
            <a:br>
              <a:rPr lang="en-US" dirty="0"/>
            </a:br>
            <a:r>
              <a:rPr lang="en-US" dirty="0"/>
              <a:t>Homework 2</a:t>
            </a:r>
          </a:p>
        </p:txBody>
      </p:sp>
      <p:sp>
        <p:nvSpPr>
          <p:cNvPr id="3" name="Subtitle 2">
            <a:extLst>
              <a:ext uri="{FF2B5EF4-FFF2-40B4-BE49-F238E27FC236}">
                <a16:creationId xmlns:a16="http://schemas.microsoft.com/office/drawing/2014/main" id="{60784AE0-8FBE-447E-DC2D-AB43862A57D9}"/>
              </a:ext>
            </a:extLst>
          </p:cNvPr>
          <p:cNvSpPr>
            <a:spLocks noGrp="1"/>
          </p:cNvSpPr>
          <p:nvPr>
            <p:ph type="subTitle" idx="1"/>
          </p:nvPr>
        </p:nvSpPr>
        <p:spPr/>
        <p:txBody>
          <a:bodyPr>
            <a:normAutofit/>
          </a:bodyPr>
          <a:lstStyle/>
          <a:p>
            <a:r>
              <a:rPr lang="en-US" sz="2800" b="1" dirty="0"/>
              <a:t>Submitted by: Tiwalope Shadare</a:t>
            </a:r>
          </a:p>
        </p:txBody>
      </p:sp>
    </p:spTree>
    <p:extLst>
      <p:ext uri="{BB962C8B-B14F-4D97-AF65-F5344CB8AC3E}">
        <p14:creationId xmlns:p14="http://schemas.microsoft.com/office/powerpoint/2010/main" val="2277693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8B35E-3ACE-BFA4-99C2-FC6F409306AE}"/>
              </a:ext>
            </a:extLst>
          </p:cNvPr>
          <p:cNvSpPr>
            <a:spLocks noGrp="1"/>
          </p:cNvSpPr>
          <p:nvPr>
            <p:ph type="title"/>
          </p:nvPr>
        </p:nvSpPr>
        <p:spPr>
          <a:xfrm>
            <a:off x="838200" y="365125"/>
            <a:ext cx="10515600" cy="712113"/>
          </a:xfrm>
        </p:spPr>
        <p:txBody>
          <a:bodyPr>
            <a:normAutofit fontScale="90000"/>
          </a:bodyPr>
          <a:lstStyle/>
          <a:p>
            <a:pPr algn="ctr"/>
            <a:r>
              <a:rPr lang="en-US" b="1" dirty="0"/>
              <a:t>Part 1 - Initial Line Chart for Scarf Sales by TS.</a:t>
            </a:r>
          </a:p>
        </p:txBody>
      </p:sp>
      <p:pic>
        <p:nvPicPr>
          <p:cNvPr id="11" name="Content Placeholder 10">
            <a:extLst>
              <a:ext uri="{FF2B5EF4-FFF2-40B4-BE49-F238E27FC236}">
                <a16:creationId xmlns:a16="http://schemas.microsoft.com/office/drawing/2014/main" id="{4AD7AF86-D6AD-A7AD-E26A-DA89ED62E850}"/>
              </a:ext>
            </a:extLst>
          </p:cNvPr>
          <p:cNvPicPr>
            <a:picLocks noGrp="1" noChangeAspect="1"/>
          </p:cNvPicPr>
          <p:nvPr>
            <p:ph idx="1"/>
          </p:nvPr>
        </p:nvPicPr>
        <p:blipFill>
          <a:blip r:embed="rId3"/>
          <a:stretch>
            <a:fillRect/>
          </a:stretch>
        </p:blipFill>
        <p:spPr>
          <a:xfrm>
            <a:off x="1559232" y="1277654"/>
            <a:ext cx="9073536" cy="5099725"/>
          </a:xfrm>
          <a:ln w="9525">
            <a:solidFill>
              <a:schemeClr val="tx1"/>
            </a:solidFill>
          </a:ln>
        </p:spPr>
      </p:pic>
    </p:spTree>
    <p:extLst>
      <p:ext uri="{BB962C8B-B14F-4D97-AF65-F5344CB8AC3E}">
        <p14:creationId xmlns:p14="http://schemas.microsoft.com/office/powerpoint/2010/main" val="37477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E62E8-5307-9323-C9FB-40861ECFCBBE}"/>
              </a:ext>
            </a:extLst>
          </p:cNvPr>
          <p:cNvSpPr>
            <a:spLocks noGrp="1"/>
          </p:cNvSpPr>
          <p:nvPr>
            <p:ph type="title"/>
          </p:nvPr>
        </p:nvSpPr>
        <p:spPr>
          <a:xfrm>
            <a:off x="838200" y="365125"/>
            <a:ext cx="10515600" cy="774743"/>
          </a:xfrm>
        </p:spPr>
        <p:txBody>
          <a:bodyPr>
            <a:normAutofit fontScale="90000"/>
          </a:bodyPr>
          <a:lstStyle/>
          <a:p>
            <a:pPr algn="ctr"/>
            <a:r>
              <a:rPr lang="en-US" b="1" dirty="0"/>
              <a:t>Part 1 -Revised Line Chart for Scarf Sales by TS</a:t>
            </a:r>
          </a:p>
        </p:txBody>
      </p:sp>
      <p:pic>
        <p:nvPicPr>
          <p:cNvPr id="15" name="Content Placeholder 14">
            <a:extLst>
              <a:ext uri="{FF2B5EF4-FFF2-40B4-BE49-F238E27FC236}">
                <a16:creationId xmlns:a16="http://schemas.microsoft.com/office/drawing/2014/main" id="{A09ACD34-A098-218D-43E9-45EDF2DC5169}"/>
              </a:ext>
            </a:extLst>
          </p:cNvPr>
          <p:cNvPicPr>
            <a:picLocks noGrp="1" noChangeAspect="1"/>
          </p:cNvPicPr>
          <p:nvPr>
            <p:ph idx="1"/>
          </p:nvPr>
        </p:nvPicPr>
        <p:blipFill>
          <a:blip r:embed="rId3"/>
          <a:stretch>
            <a:fillRect/>
          </a:stretch>
        </p:blipFill>
        <p:spPr>
          <a:xfrm>
            <a:off x="1574983" y="1139868"/>
            <a:ext cx="9082824" cy="5112943"/>
          </a:xfrm>
        </p:spPr>
      </p:pic>
    </p:spTree>
    <p:extLst>
      <p:ext uri="{BB962C8B-B14F-4D97-AF65-F5344CB8AC3E}">
        <p14:creationId xmlns:p14="http://schemas.microsoft.com/office/powerpoint/2010/main" val="2041070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E9EC0-82CA-C62F-5D54-640A36336127}"/>
              </a:ext>
            </a:extLst>
          </p:cNvPr>
          <p:cNvSpPr>
            <a:spLocks noGrp="1"/>
          </p:cNvSpPr>
          <p:nvPr>
            <p:ph type="title"/>
          </p:nvPr>
        </p:nvSpPr>
        <p:spPr>
          <a:xfrm>
            <a:off x="478970" y="798287"/>
            <a:ext cx="11567887" cy="713134"/>
          </a:xfrm>
        </p:spPr>
        <p:txBody>
          <a:bodyPr>
            <a:noAutofit/>
          </a:bodyPr>
          <a:lstStyle/>
          <a:p>
            <a:r>
              <a:rPr lang="en-US" sz="3600" b="1" dirty="0"/>
              <a:t>Why the Changes were necessary based on Chapter 3 concepts</a:t>
            </a:r>
          </a:p>
        </p:txBody>
      </p:sp>
      <p:sp>
        <p:nvSpPr>
          <p:cNvPr id="3" name="Content Placeholder 2">
            <a:extLst>
              <a:ext uri="{FF2B5EF4-FFF2-40B4-BE49-F238E27FC236}">
                <a16:creationId xmlns:a16="http://schemas.microsoft.com/office/drawing/2014/main" id="{319146D1-DDCC-4311-273B-52EB0355E8E9}"/>
              </a:ext>
            </a:extLst>
          </p:cNvPr>
          <p:cNvSpPr>
            <a:spLocks noGrp="1"/>
          </p:cNvSpPr>
          <p:nvPr>
            <p:ph idx="1"/>
          </p:nvPr>
        </p:nvSpPr>
        <p:spPr/>
        <p:txBody>
          <a:bodyPr>
            <a:normAutofit lnSpcReduction="10000"/>
          </a:bodyPr>
          <a:lstStyle/>
          <a:p>
            <a:r>
              <a:rPr lang="en-US" dirty="0"/>
              <a:t>The following changes were made to the revised chart:</a:t>
            </a:r>
          </a:p>
          <a:p>
            <a:r>
              <a:rPr lang="en-US" dirty="0"/>
              <a:t>1. </a:t>
            </a:r>
            <a:r>
              <a:rPr lang="en-US" b="1" dirty="0"/>
              <a:t>Decluttering: </a:t>
            </a:r>
            <a:r>
              <a:rPr lang="en-US" dirty="0"/>
              <a:t>The gridlines were removed to increase the ‘Data-Ink Ratio’. The gridlines were unnecessary to convey the required meaning of the data to the audience, therefore, it was a non-data-ink and had to be removed. The vertical axis was also removed for the same reason.</a:t>
            </a:r>
          </a:p>
          <a:p>
            <a:r>
              <a:rPr lang="en-US" dirty="0"/>
              <a:t>2. </a:t>
            </a:r>
            <a:r>
              <a:rPr lang="en-US" b="1" dirty="0"/>
              <a:t>Minimizing Eye-Travel: </a:t>
            </a:r>
            <a:r>
              <a:rPr lang="en-US" b="0" dirty="0"/>
              <a:t>The data labels for the units of scarf sold was added to the line graph to minimize the eye travel of the audience and reduce the cognitive load needed to know how many scarfs were sold in a particular day. Without the data labels, the audience would have had to trace the number from the vertical axis which will maximize eye travel and increasing the cognitive load.</a:t>
            </a:r>
          </a:p>
          <a:p>
            <a:r>
              <a:rPr lang="en-US" b="0" dirty="0"/>
              <a:t>3. </a:t>
            </a:r>
            <a:r>
              <a:rPr lang="en-US" b="1" dirty="0"/>
              <a:t>Connection: </a:t>
            </a:r>
            <a:r>
              <a:rPr lang="en-US" b="0" dirty="0"/>
              <a:t>With this line chart being a time series data, the Gestalt principle of connection was used to show the scarf sales across a 20-day period. This helped in giving the audience snapshot how the sales for the period covered. We can see that sales peaked on day 13 with 290 units sold.</a:t>
            </a:r>
            <a:endParaRPr lang="en-US" b="1" dirty="0"/>
          </a:p>
          <a:p>
            <a:endParaRPr lang="en-US" dirty="0"/>
          </a:p>
        </p:txBody>
      </p:sp>
    </p:spTree>
    <p:extLst>
      <p:ext uri="{BB962C8B-B14F-4D97-AF65-F5344CB8AC3E}">
        <p14:creationId xmlns:p14="http://schemas.microsoft.com/office/powerpoint/2010/main" val="241467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2E156-1A97-CAB7-7096-65F6978FA36D}"/>
              </a:ext>
            </a:extLst>
          </p:cNvPr>
          <p:cNvSpPr>
            <a:spLocks noGrp="1"/>
          </p:cNvSpPr>
          <p:nvPr>
            <p:ph type="title"/>
          </p:nvPr>
        </p:nvSpPr>
        <p:spPr>
          <a:xfrm>
            <a:off x="413359" y="365125"/>
            <a:ext cx="11511419" cy="774743"/>
          </a:xfrm>
        </p:spPr>
        <p:txBody>
          <a:bodyPr>
            <a:normAutofit/>
          </a:bodyPr>
          <a:lstStyle/>
          <a:p>
            <a:pPr algn="ctr"/>
            <a:r>
              <a:rPr lang="en-US" sz="4000" b="1" dirty="0"/>
              <a:t>Part 1 - Sorted Column </a:t>
            </a:r>
            <a:r>
              <a:rPr lang="en-US" sz="4400" b="1" dirty="0"/>
              <a:t>Chart</a:t>
            </a:r>
            <a:r>
              <a:rPr lang="en-US" sz="4000" b="1" dirty="0"/>
              <a:t> for Annual Revenues by TS.</a:t>
            </a:r>
          </a:p>
        </p:txBody>
      </p:sp>
      <p:pic>
        <p:nvPicPr>
          <p:cNvPr id="13" name="Content Placeholder 12">
            <a:extLst>
              <a:ext uri="{FF2B5EF4-FFF2-40B4-BE49-F238E27FC236}">
                <a16:creationId xmlns:a16="http://schemas.microsoft.com/office/drawing/2014/main" id="{B94DEDC4-837C-55F6-8634-7A40B268DDBA}"/>
              </a:ext>
            </a:extLst>
          </p:cNvPr>
          <p:cNvPicPr>
            <a:picLocks noGrp="1" noChangeAspect="1"/>
          </p:cNvPicPr>
          <p:nvPr>
            <p:ph idx="1"/>
          </p:nvPr>
        </p:nvPicPr>
        <p:blipFill>
          <a:blip r:embed="rId2"/>
          <a:stretch>
            <a:fillRect/>
          </a:stretch>
        </p:blipFill>
        <p:spPr>
          <a:xfrm>
            <a:off x="1528176" y="1162765"/>
            <a:ext cx="9121944" cy="5126933"/>
          </a:xfrm>
        </p:spPr>
      </p:pic>
    </p:spTree>
    <p:extLst>
      <p:ext uri="{BB962C8B-B14F-4D97-AF65-F5344CB8AC3E}">
        <p14:creationId xmlns:p14="http://schemas.microsoft.com/office/powerpoint/2010/main" val="529413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4EF60-C53A-AC0D-BAA0-C1D28D5FFEBB}"/>
              </a:ext>
            </a:extLst>
          </p:cNvPr>
          <p:cNvSpPr>
            <a:spLocks noGrp="1"/>
          </p:cNvSpPr>
          <p:nvPr>
            <p:ph type="title"/>
          </p:nvPr>
        </p:nvSpPr>
        <p:spPr>
          <a:xfrm>
            <a:off x="381000" y="286604"/>
            <a:ext cx="11544300" cy="604648"/>
          </a:xfrm>
        </p:spPr>
        <p:txBody>
          <a:bodyPr>
            <a:normAutofit fontScale="90000"/>
          </a:bodyPr>
          <a:lstStyle/>
          <a:p>
            <a:r>
              <a:rPr lang="en-US" b="1" dirty="0"/>
              <a:t>Part 2 - Chart of Number of Industrial Robots installed</a:t>
            </a:r>
          </a:p>
        </p:txBody>
      </p:sp>
      <p:pic>
        <p:nvPicPr>
          <p:cNvPr id="5" name="Content Placeholder 4">
            <a:extLst>
              <a:ext uri="{FF2B5EF4-FFF2-40B4-BE49-F238E27FC236}">
                <a16:creationId xmlns:a16="http://schemas.microsoft.com/office/drawing/2014/main" id="{C757F11C-65F3-E1D3-4E98-5720591D0A8A}"/>
              </a:ext>
            </a:extLst>
          </p:cNvPr>
          <p:cNvPicPr>
            <a:picLocks noGrp="1" noChangeAspect="1"/>
          </p:cNvPicPr>
          <p:nvPr>
            <p:ph idx="1"/>
          </p:nvPr>
        </p:nvPicPr>
        <p:blipFill>
          <a:blip r:embed="rId3"/>
          <a:stretch>
            <a:fillRect/>
          </a:stretch>
        </p:blipFill>
        <p:spPr>
          <a:xfrm>
            <a:off x="1863524" y="891252"/>
            <a:ext cx="8151333" cy="5401683"/>
          </a:xfrm>
        </p:spPr>
      </p:pic>
    </p:spTree>
    <p:extLst>
      <p:ext uri="{BB962C8B-B14F-4D97-AF65-F5344CB8AC3E}">
        <p14:creationId xmlns:p14="http://schemas.microsoft.com/office/powerpoint/2010/main" val="345743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910EF-7C93-2E2A-F14D-EE689D430FDA}"/>
              </a:ext>
            </a:extLst>
          </p:cNvPr>
          <p:cNvSpPr>
            <a:spLocks noGrp="1"/>
          </p:cNvSpPr>
          <p:nvPr>
            <p:ph type="title"/>
          </p:nvPr>
        </p:nvSpPr>
        <p:spPr>
          <a:xfrm>
            <a:off x="1097280" y="286603"/>
            <a:ext cx="10058400" cy="1135797"/>
          </a:xfrm>
        </p:spPr>
        <p:txBody>
          <a:bodyPr/>
          <a:lstStyle/>
          <a:p>
            <a:r>
              <a:rPr lang="en-US" b="1" dirty="0"/>
              <a:t>Goal, Chart type, and Hyperlink (Slide 6)</a:t>
            </a:r>
          </a:p>
        </p:txBody>
      </p:sp>
      <p:sp>
        <p:nvSpPr>
          <p:cNvPr id="3" name="Content Placeholder 2">
            <a:extLst>
              <a:ext uri="{FF2B5EF4-FFF2-40B4-BE49-F238E27FC236}">
                <a16:creationId xmlns:a16="http://schemas.microsoft.com/office/drawing/2014/main" id="{4D1DBC46-B728-514F-9618-B08166FAFB13}"/>
              </a:ext>
            </a:extLst>
          </p:cNvPr>
          <p:cNvSpPr>
            <a:spLocks noGrp="1"/>
          </p:cNvSpPr>
          <p:nvPr>
            <p:ph idx="1"/>
          </p:nvPr>
        </p:nvSpPr>
        <p:spPr/>
        <p:txBody>
          <a:bodyPr/>
          <a:lstStyle/>
          <a:p>
            <a:r>
              <a:rPr lang="en-US" sz="2800" b="1" dirty="0"/>
              <a:t>Goal</a:t>
            </a:r>
            <a:r>
              <a:rPr lang="en-US" sz="2800" dirty="0"/>
              <a:t>: The goal of this chart is to show the audience the number of industrial robots installed in China vs the rest of the world between 2016 and 2021.</a:t>
            </a:r>
          </a:p>
          <a:p>
            <a:r>
              <a:rPr lang="en-US" sz="2800" b="1" dirty="0"/>
              <a:t>Chart Type: </a:t>
            </a:r>
            <a:r>
              <a:rPr lang="en-US" sz="2800" dirty="0"/>
              <a:t>Line chart (this can also be considered as an area chart due to the images included in the chart).</a:t>
            </a:r>
          </a:p>
          <a:p>
            <a:r>
              <a:rPr lang="en-US" sz="2800" b="1" dirty="0"/>
              <a:t>Hyperlink: </a:t>
            </a:r>
            <a:r>
              <a:rPr lang="en-US" sz="2800" dirty="0">
                <a:hlinkClick r:id="rId2"/>
              </a:rPr>
              <a:t>2023 State of AI in 14 Charts</a:t>
            </a:r>
            <a:endParaRPr lang="en-US" sz="2800" dirty="0"/>
          </a:p>
          <a:p>
            <a:endParaRPr lang="en-US" dirty="0"/>
          </a:p>
        </p:txBody>
      </p:sp>
    </p:spTree>
    <p:extLst>
      <p:ext uri="{BB962C8B-B14F-4D97-AF65-F5344CB8AC3E}">
        <p14:creationId xmlns:p14="http://schemas.microsoft.com/office/powerpoint/2010/main" val="719338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E1EAD-9905-D64B-F73A-6DA3FABB6E12}"/>
              </a:ext>
            </a:extLst>
          </p:cNvPr>
          <p:cNvSpPr>
            <a:spLocks noGrp="1"/>
          </p:cNvSpPr>
          <p:nvPr>
            <p:ph type="title"/>
          </p:nvPr>
        </p:nvSpPr>
        <p:spPr>
          <a:xfrm>
            <a:off x="1097280" y="286603"/>
            <a:ext cx="10058400" cy="702303"/>
          </a:xfrm>
        </p:spPr>
        <p:txBody>
          <a:bodyPr>
            <a:normAutofit fontScale="90000"/>
          </a:bodyPr>
          <a:lstStyle/>
          <a:p>
            <a:r>
              <a:rPr lang="en-US" b="1" dirty="0"/>
              <a:t>Analysis &amp; Critique/Proposed Corrections</a:t>
            </a:r>
            <a:endParaRPr lang="en-US" dirty="0"/>
          </a:p>
        </p:txBody>
      </p:sp>
      <p:sp>
        <p:nvSpPr>
          <p:cNvPr id="3" name="Content Placeholder 2">
            <a:extLst>
              <a:ext uri="{FF2B5EF4-FFF2-40B4-BE49-F238E27FC236}">
                <a16:creationId xmlns:a16="http://schemas.microsoft.com/office/drawing/2014/main" id="{D9014FA0-D6CD-FD24-5CC6-21FD549D0BE8}"/>
              </a:ext>
            </a:extLst>
          </p:cNvPr>
          <p:cNvSpPr>
            <a:spLocks noGrp="1"/>
          </p:cNvSpPr>
          <p:nvPr>
            <p:ph idx="1"/>
          </p:nvPr>
        </p:nvSpPr>
        <p:spPr>
          <a:xfrm>
            <a:off x="838199" y="1320799"/>
            <a:ext cx="10715171" cy="5250597"/>
          </a:xfrm>
        </p:spPr>
        <p:txBody>
          <a:bodyPr>
            <a:normAutofit fontScale="92500" lnSpcReduction="20000"/>
          </a:bodyPr>
          <a:lstStyle/>
          <a:p>
            <a:pPr marL="0" indent="0">
              <a:buNone/>
            </a:pPr>
            <a:r>
              <a:rPr lang="en-US" sz="20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Analysis &amp; Critique</a:t>
            </a:r>
          </a:p>
          <a:p>
            <a:pPr>
              <a:buFont typeface="Arial" panose="020B0604020202020204" pitchFamily="34" charset="0"/>
              <a:buChar char="•"/>
            </a:pPr>
            <a:r>
              <a:rPr lang="en-US" sz="1800" b="1" i="0" u="none" strike="noStrike" baseline="0" dirty="0">
                <a:solidFill>
                  <a:srgbClr val="000000"/>
                </a:solidFill>
                <a:latin typeface="Calibri" panose="020F0502020204030204" pitchFamily="34" charset="0"/>
              </a:rPr>
              <a:t>Preattentive Attributes</a:t>
            </a:r>
            <a:r>
              <a:rPr lang="en-US" sz="1800" b="0" i="0" u="none" strike="noStrike" baseline="0" dirty="0">
                <a:solidFill>
                  <a:srgbClr val="000000"/>
                </a:solidFill>
                <a:latin typeface="Calibri" panose="020F0502020204030204" pitchFamily="34" charset="0"/>
              </a:rPr>
              <a:t> </a:t>
            </a:r>
            <a:r>
              <a:rPr lang="en-US" sz="1800" b="1" i="0" u="none" strike="noStrike" baseline="0" dirty="0">
                <a:solidFill>
                  <a:srgbClr val="000000"/>
                </a:solidFill>
                <a:latin typeface="Calibri" panose="020F0502020204030204" pitchFamily="34" charset="0"/>
              </a:rPr>
              <a:t>used in the chart: </a:t>
            </a:r>
            <a:r>
              <a:rPr lang="en-US" sz="1800" b="0" i="0" u="none" strike="noStrike" baseline="0" dirty="0">
                <a:solidFill>
                  <a:srgbClr val="000000"/>
                </a:solidFill>
                <a:latin typeface="Calibri" panose="020F0502020204030204" pitchFamily="34" charset="0"/>
              </a:rPr>
              <a:t>Color</a:t>
            </a:r>
          </a:p>
          <a:p>
            <a:pPr>
              <a:buFont typeface="Arial" panose="020B0604020202020204" pitchFamily="34" charset="0"/>
              <a:buChar char="•"/>
            </a:pPr>
            <a:r>
              <a:rPr lang="en-US" sz="1800" b="1" i="0" u="none" strike="noStrike" baseline="0" dirty="0">
                <a:solidFill>
                  <a:srgbClr val="000000"/>
                </a:solidFill>
                <a:latin typeface="Calibri" panose="020F0502020204030204" pitchFamily="34" charset="0"/>
              </a:rPr>
              <a:t>Gestalt Principles</a:t>
            </a:r>
            <a:r>
              <a:rPr lang="en-US" sz="1800" b="0" i="0" u="none" strike="noStrike" baseline="0" dirty="0">
                <a:solidFill>
                  <a:srgbClr val="000000"/>
                </a:solidFill>
                <a:latin typeface="Calibri" panose="020F0502020204030204" pitchFamily="34" charset="0"/>
              </a:rPr>
              <a:t>: Similarity, connection</a:t>
            </a:r>
          </a:p>
          <a:p>
            <a:pPr>
              <a:buFont typeface="Arial" panose="020B0604020202020204" pitchFamily="34" charset="0"/>
              <a:buChar char="•"/>
            </a:pPr>
            <a:r>
              <a:rPr lang="en-US" sz="1800" b="1" i="0" u="none" strike="noStrike" baseline="0" dirty="0">
                <a:solidFill>
                  <a:srgbClr val="000000"/>
                </a:solidFill>
                <a:latin typeface="Calibri" panose="020F0502020204030204" pitchFamily="34" charset="0"/>
              </a:rPr>
              <a:t>Data-Ink Ratio: </a:t>
            </a:r>
            <a:r>
              <a:rPr lang="en-US" sz="1800" b="0" i="0" u="none" strike="noStrike" baseline="0" dirty="0">
                <a:solidFill>
                  <a:srgbClr val="000000"/>
                </a:solidFill>
                <a:latin typeface="Calibri" panose="020F0502020204030204" pitchFamily="34" charset="0"/>
              </a:rPr>
              <a:t>Low Data-Ink Ratio as there were images in the chart that were not needed to convey the necessary details</a:t>
            </a:r>
          </a:p>
          <a:p>
            <a:r>
              <a:rPr lang="en-US" sz="1800" b="0" i="0" u="none" strike="noStrike" baseline="0" dirty="0">
                <a:solidFill>
                  <a:srgbClr val="000000"/>
                </a:solidFill>
                <a:latin typeface="Arial" panose="020B0604020202020204" pitchFamily="34" charset="0"/>
              </a:rPr>
              <a:t>•</a:t>
            </a:r>
            <a:r>
              <a:rPr lang="en-US" sz="1800" b="1" i="0" u="none" strike="noStrike" baseline="0" dirty="0">
                <a:solidFill>
                  <a:srgbClr val="000000"/>
                </a:solidFill>
                <a:latin typeface="Calibri" panose="020F0502020204030204" pitchFamily="34" charset="0"/>
              </a:rPr>
              <a:t>Other Data Visualization Design Issues: </a:t>
            </a:r>
          </a:p>
          <a:p>
            <a:pPr lvl="1"/>
            <a:r>
              <a:rPr lang="en-US" sz="1600" b="0" i="0" u="none" strike="noStrike" baseline="0" dirty="0">
                <a:solidFill>
                  <a:srgbClr val="000000"/>
                </a:solidFill>
                <a:latin typeface="Calibri" panose="020F0502020204030204" pitchFamily="34" charset="0"/>
              </a:rPr>
              <a:t>The blue and purple robotic images included in the chart were unnecessary. It makes the chart look cumbersome and cluttered, decreasing the data-ink ratio</a:t>
            </a:r>
          </a:p>
          <a:p>
            <a:pPr lvl="1"/>
            <a:r>
              <a:rPr lang="en-US" sz="1600" b="0" i="0" u="none" strike="noStrike" baseline="0" dirty="0">
                <a:solidFill>
                  <a:srgbClr val="000000"/>
                </a:solidFill>
                <a:latin typeface="Calibri" panose="020F0502020204030204" pitchFamily="34" charset="0"/>
              </a:rPr>
              <a:t>The horizontal axis lacked its label. </a:t>
            </a:r>
          </a:p>
          <a:p>
            <a:pPr lvl="1"/>
            <a:r>
              <a:rPr lang="en-US" sz="1600" dirty="0">
                <a:solidFill>
                  <a:srgbClr val="000000"/>
                </a:solidFill>
                <a:latin typeface="Calibri" panose="020F0502020204030204" pitchFamily="34" charset="0"/>
              </a:rPr>
              <a:t>The data label was only added to the end of the line and not specified for each year. Trying to figure out the values for the years in the middle will involve tracing the line which will maximize eye travel and increase cognitive load.</a:t>
            </a:r>
            <a:endParaRPr lang="en-US" sz="1600" b="0" i="0" u="none" strike="noStrike" baseline="0" dirty="0">
              <a:solidFill>
                <a:srgbClr val="000000"/>
              </a:solidFill>
              <a:latin typeface="Calibri" panose="020F0502020204030204" pitchFamily="34" charset="0"/>
            </a:endParaRPr>
          </a:p>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Proposed Corrections</a:t>
            </a:r>
          </a:p>
          <a:p>
            <a:pPr>
              <a:buFont typeface="Arial" panose="020B0604020202020204" pitchFamily="34" charset="0"/>
              <a:buChar char="•"/>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Change the chart type from the current chart type to a simple dual-line chart. The robotic images should be removed.</a:t>
            </a:r>
          </a:p>
          <a:p>
            <a:pPr>
              <a:buFont typeface="Arial" panose="020B0604020202020204" pitchFamily="34" charset="0"/>
              <a:buChar char="•"/>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Change the background color from blue to white to provide more contrast.</a:t>
            </a:r>
          </a:p>
          <a:p>
            <a:pPr>
              <a:buFont typeface="Arial" panose="020B0604020202020204" pitchFamily="34" charset="0"/>
              <a:buChar char="•"/>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Add data label not only to the end of the line (the year 2021) but for each year in our analysis. This will minimize eye travel and reduce cognitive load.</a:t>
            </a:r>
          </a:p>
          <a:p>
            <a:pPr>
              <a:buFont typeface="Arial" panose="020B0604020202020204" pitchFamily="34" charset="0"/>
              <a:buChar char="•"/>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Add horizontal axis label “year”.</a:t>
            </a:r>
          </a:p>
        </p:txBody>
      </p:sp>
    </p:spTree>
    <p:extLst>
      <p:ext uri="{BB962C8B-B14F-4D97-AF65-F5344CB8AC3E}">
        <p14:creationId xmlns:p14="http://schemas.microsoft.com/office/powerpoint/2010/main" val="1925515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9502F-B3A5-6973-5AC5-66533460B80B}"/>
              </a:ext>
            </a:extLst>
          </p:cNvPr>
          <p:cNvSpPr>
            <a:spLocks noGrp="1"/>
          </p:cNvSpPr>
          <p:nvPr>
            <p:ph type="title"/>
          </p:nvPr>
        </p:nvSpPr>
        <p:spPr>
          <a:xfrm>
            <a:off x="391886" y="638629"/>
            <a:ext cx="11406414" cy="820177"/>
          </a:xfrm>
        </p:spPr>
        <p:txBody>
          <a:bodyPr>
            <a:normAutofit fontScale="90000"/>
          </a:bodyPr>
          <a:lstStyle/>
          <a:p>
            <a:r>
              <a:rPr lang="en-US" b="1" dirty="0"/>
              <a:t>Revised chart for Number of Industrial Robots by TS</a:t>
            </a:r>
          </a:p>
        </p:txBody>
      </p:sp>
      <p:graphicFrame>
        <p:nvGraphicFramePr>
          <p:cNvPr id="4" name="Content Placeholder 3">
            <a:extLst>
              <a:ext uri="{FF2B5EF4-FFF2-40B4-BE49-F238E27FC236}">
                <a16:creationId xmlns:a16="http://schemas.microsoft.com/office/drawing/2014/main" id="{13FB3C6D-1E1E-60A9-9A45-16515A8F8F5B}"/>
              </a:ext>
            </a:extLst>
          </p:cNvPr>
          <p:cNvGraphicFramePr>
            <a:graphicFrameLocks noGrp="1"/>
          </p:cNvGraphicFramePr>
          <p:nvPr>
            <p:ph idx="1"/>
            <p:extLst>
              <p:ext uri="{D42A27DB-BD31-4B8C-83A1-F6EECF244321}">
                <p14:modId xmlns:p14="http://schemas.microsoft.com/office/powerpoint/2010/main" val="3056697507"/>
              </p:ext>
            </p:extLst>
          </p:nvPr>
        </p:nvGraphicFramePr>
        <p:xfrm>
          <a:off x="1600199" y="1866899"/>
          <a:ext cx="9590315" cy="435247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15615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21CC-9CBE-0958-2E9E-E6A1CB23759A}"/>
              </a:ext>
            </a:extLst>
          </p:cNvPr>
          <p:cNvSpPr>
            <a:spLocks noGrp="1"/>
          </p:cNvSpPr>
          <p:nvPr>
            <p:ph type="title"/>
          </p:nvPr>
        </p:nvSpPr>
        <p:spPr>
          <a:xfrm>
            <a:off x="304801" y="215901"/>
            <a:ext cx="11544300" cy="773006"/>
          </a:xfrm>
        </p:spPr>
        <p:txBody>
          <a:bodyPr>
            <a:noAutofit/>
          </a:bodyPr>
          <a:lstStyle/>
          <a:p>
            <a:r>
              <a:rPr lang="en-US" sz="3600" b="1" dirty="0"/>
              <a:t>Part 2 - Chart of Number of Deaths from Heroin (2001 – 2013)</a:t>
            </a:r>
          </a:p>
        </p:txBody>
      </p:sp>
      <p:pic>
        <p:nvPicPr>
          <p:cNvPr id="5" name="Content Placeholder 4">
            <a:extLst>
              <a:ext uri="{FF2B5EF4-FFF2-40B4-BE49-F238E27FC236}">
                <a16:creationId xmlns:a16="http://schemas.microsoft.com/office/drawing/2014/main" id="{7E14709A-6568-EA42-2E21-16E61F8FFF76}"/>
              </a:ext>
            </a:extLst>
          </p:cNvPr>
          <p:cNvPicPr>
            <a:picLocks noGrp="1" noChangeAspect="1"/>
          </p:cNvPicPr>
          <p:nvPr>
            <p:ph idx="1"/>
          </p:nvPr>
        </p:nvPicPr>
        <p:blipFill>
          <a:blip r:embed="rId3"/>
          <a:stretch>
            <a:fillRect/>
          </a:stretch>
        </p:blipFill>
        <p:spPr>
          <a:xfrm>
            <a:off x="2430685" y="1257804"/>
            <a:ext cx="6654592" cy="4975200"/>
          </a:xfrm>
        </p:spPr>
      </p:pic>
    </p:spTree>
    <p:extLst>
      <p:ext uri="{BB962C8B-B14F-4D97-AF65-F5344CB8AC3E}">
        <p14:creationId xmlns:p14="http://schemas.microsoft.com/office/powerpoint/2010/main" val="339913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99128-47CD-F97C-C0FA-FB3145F84ED9}"/>
              </a:ext>
            </a:extLst>
          </p:cNvPr>
          <p:cNvSpPr>
            <a:spLocks noGrp="1"/>
          </p:cNvSpPr>
          <p:nvPr>
            <p:ph type="title"/>
          </p:nvPr>
        </p:nvSpPr>
        <p:spPr>
          <a:xfrm>
            <a:off x="1097280" y="286604"/>
            <a:ext cx="10058400" cy="990654"/>
          </a:xfrm>
        </p:spPr>
        <p:txBody>
          <a:bodyPr/>
          <a:lstStyle/>
          <a:p>
            <a:r>
              <a:rPr lang="en-US" b="1" dirty="0"/>
              <a:t>Goal, Chart type, and Hyperlink (Slide 10)</a:t>
            </a:r>
            <a:endParaRPr lang="en-US" dirty="0"/>
          </a:p>
        </p:txBody>
      </p:sp>
      <p:sp>
        <p:nvSpPr>
          <p:cNvPr id="3" name="Content Placeholder 2">
            <a:extLst>
              <a:ext uri="{FF2B5EF4-FFF2-40B4-BE49-F238E27FC236}">
                <a16:creationId xmlns:a16="http://schemas.microsoft.com/office/drawing/2014/main" id="{37ACFEDB-F57F-619A-A9FC-C553FEC13FD0}"/>
              </a:ext>
            </a:extLst>
          </p:cNvPr>
          <p:cNvSpPr>
            <a:spLocks noGrp="1"/>
          </p:cNvSpPr>
          <p:nvPr>
            <p:ph idx="1"/>
          </p:nvPr>
        </p:nvSpPr>
        <p:spPr/>
        <p:txBody>
          <a:bodyPr/>
          <a:lstStyle/>
          <a:p>
            <a:r>
              <a:rPr lang="en-US" sz="2800" b="1" dirty="0"/>
              <a:t>Goal: </a:t>
            </a:r>
            <a:r>
              <a:rPr lang="en-US" sz="2800" dirty="0"/>
              <a:t>The Chart depicts the total number of overdose deaths from heroin in the United States from 2001 to 2013. It also shows the number of female and male overdose deaths, specifically from heroin.</a:t>
            </a:r>
          </a:p>
          <a:p>
            <a:r>
              <a:rPr lang="en-US" sz="2800" b="1" dirty="0"/>
              <a:t>Chart Type: </a:t>
            </a:r>
            <a:r>
              <a:rPr lang="en-US" sz="2800" dirty="0"/>
              <a:t>Column chart (to depict the total) and Line chart (to depict the male and female numbers).</a:t>
            </a:r>
          </a:p>
          <a:p>
            <a:r>
              <a:rPr lang="en-US" sz="2800" b="1" dirty="0"/>
              <a:t>Hyperlink: </a:t>
            </a:r>
            <a:r>
              <a:rPr lang="en-US" sz="2800" dirty="0">
                <a:hlinkClick r:id="rId2"/>
              </a:rPr>
              <a:t>Drug Use and Heroin Addiction: Informative Speech | Free Essay Example</a:t>
            </a:r>
            <a:endParaRPr lang="en-US" sz="2800" b="0" i="0" u="none" strike="noStrike" baseline="0" dirty="0">
              <a:solidFill>
                <a:srgbClr val="000000"/>
              </a:solidFill>
              <a:latin typeface="Arial" panose="020B0604020202020204" pitchFamily="34" charset="0"/>
            </a:endParaRPr>
          </a:p>
          <a:p>
            <a:endParaRPr lang="en-US" dirty="0"/>
          </a:p>
        </p:txBody>
      </p:sp>
    </p:spTree>
    <p:extLst>
      <p:ext uri="{BB962C8B-B14F-4D97-AF65-F5344CB8AC3E}">
        <p14:creationId xmlns:p14="http://schemas.microsoft.com/office/powerpoint/2010/main" val="1566697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D475-CCD8-F19C-6DFF-ECB0F5E6FE31}"/>
              </a:ext>
            </a:extLst>
          </p:cNvPr>
          <p:cNvSpPr>
            <a:spLocks noGrp="1"/>
          </p:cNvSpPr>
          <p:nvPr>
            <p:ph type="title"/>
          </p:nvPr>
        </p:nvSpPr>
        <p:spPr>
          <a:xfrm>
            <a:off x="1097280" y="286603"/>
            <a:ext cx="10058400" cy="702303"/>
          </a:xfrm>
        </p:spPr>
        <p:txBody>
          <a:bodyPr>
            <a:normAutofit fontScale="90000"/>
          </a:bodyPr>
          <a:lstStyle/>
          <a:p>
            <a:r>
              <a:rPr lang="en-US" b="1" dirty="0"/>
              <a:t>Analysis &amp; Critique/Proposed Corrections</a:t>
            </a:r>
          </a:p>
        </p:txBody>
      </p:sp>
      <p:sp>
        <p:nvSpPr>
          <p:cNvPr id="3" name="Content Placeholder 2">
            <a:extLst>
              <a:ext uri="{FF2B5EF4-FFF2-40B4-BE49-F238E27FC236}">
                <a16:creationId xmlns:a16="http://schemas.microsoft.com/office/drawing/2014/main" id="{52BBE36E-9BE4-3BB3-3B32-9ADCBAAA5FEB}"/>
              </a:ext>
            </a:extLst>
          </p:cNvPr>
          <p:cNvSpPr>
            <a:spLocks noGrp="1"/>
          </p:cNvSpPr>
          <p:nvPr>
            <p:ph idx="1"/>
          </p:nvPr>
        </p:nvSpPr>
        <p:spPr>
          <a:xfrm>
            <a:off x="1066800" y="1371600"/>
            <a:ext cx="10058400" cy="5105400"/>
          </a:xfrm>
        </p:spPr>
        <p:txBody>
          <a:bodyPr>
            <a:normAutofit fontScale="92500" lnSpcReduction="20000"/>
          </a:bodyPr>
          <a:lstStyle/>
          <a:p>
            <a:pPr marL="0" inden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Analysis &amp; Critique</a:t>
            </a:r>
          </a:p>
          <a:p>
            <a:pPr>
              <a:buFont typeface="Arial" panose="020B0604020202020204" pitchFamily="34" charset="0"/>
              <a:buChar char="•"/>
            </a:pPr>
            <a:r>
              <a:rPr lang="en-US" sz="2100" b="1" dirty="0">
                <a:solidFill>
                  <a:srgbClr val="000000"/>
                </a:solidFill>
                <a:latin typeface="Calibri" panose="020F0502020204030204" pitchFamily="34" charset="0"/>
                <a:ea typeface="Calibri" panose="020F0502020204030204" pitchFamily="34" charset="0"/>
                <a:cs typeface="Calibri" panose="020F0502020204030204" pitchFamily="34" charset="0"/>
              </a:rPr>
              <a:t>Preattentive Attributes: </a:t>
            </a:r>
            <a:r>
              <a:rPr lang="en-US" sz="2100" dirty="0">
                <a:solidFill>
                  <a:srgbClr val="000000"/>
                </a:solidFill>
                <a:latin typeface="Calibri" panose="020F0502020204030204" pitchFamily="34" charset="0"/>
                <a:ea typeface="Calibri" panose="020F0502020204030204" pitchFamily="34" charset="0"/>
                <a:cs typeface="Calibri" panose="020F0502020204030204" pitchFamily="34" charset="0"/>
              </a:rPr>
              <a:t>color, length</a:t>
            </a:r>
          </a:p>
          <a:p>
            <a:pPr>
              <a:buFont typeface="Arial" panose="020B0604020202020204" pitchFamily="34" charset="0"/>
              <a:buChar char="•"/>
            </a:pPr>
            <a:r>
              <a:rPr lang="en-US" sz="2100" b="1" dirty="0">
                <a:solidFill>
                  <a:srgbClr val="000000"/>
                </a:solidFill>
                <a:latin typeface="Calibri" panose="020F0502020204030204" pitchFamily="34" charset="0"/>
                <a:ea typeface="Calibri" panose="020F0502020204030204" pitchFamily="34" charset="0"/>
                <a:cs typeface="Calibri" panose="020F0502020204030204" pitchFamily="34" charset="0"/>
              </a:rPr>
              <a:t>Gestalt Principles used in the chart: </a:t>
            </a:r>
            <a:r>
              <a:rPr lang="en-US" sz="2100" dirty="0">
                <a:solidFill>
                  <a:srgbClr val="000000"/>
                </a:solidFill>
                <a:latin typeface="Calibri" panose="020F0502020204030204" pitchFamily="34" charset="0"/>
                <a:ea typeface="Calibri" panose="020F0502020204030204" pitchFamily="34" charset="0"/>
                <a:cs typeface="Calibri" panose="020F0502020204030204" pitchFamily="34" charset="0"/>
              </a:rPr>
              <a:t>similarity</a:t>
            </a:r>
          </a:p>
          <a:p>
            <a:pPr>
              <a:buFont typeface="Arial" panose="020B0604020202020204" pitchFamily="34" charset="0"/>
              <a:buChar char="•"/>
            </a:pPr>
            <a:r>
              <a:rPr lang="en-US" sz="2100" b="1" dirty="0">
                <a:solidFill>
                  <a:srgbClr val="000000"/>
                </a:solidFill>
                <a:latin typeface="Calibri" panose="020F0502020204030204" pitchFamily="34" charset="0"/>
                <a:ea typeface="Calibri" panose="020F0502020204030204" pitchFamily="34" charset="0"/>
                <a:cs typeface="Calibri" panose="020F0502020204030204" pitchFamily="34" charset="0"/>
              </a:rPr>
              <a:t>Data-Ink Ratio: </a:t>
            </a:r>
            <a:r>
              <a:rPr lang="en-US" sz="2100" dirty="0">
                <a:solidFill>
                  <a:srgbClr val="000000"/>
                </a:solidFill>
                <a:latin typeface="Calibri" panose="020F0502020204030204" pitchFamily="34" charset="0"/>
                <a:ea typeface="Calibri" panose="020F0502020204030204" pitchFamily="34" charset="0"/>
                <a:cs typeface="Calibri" panose="020F0502020204030204" pitchFamily="34" charset="0"/>
              </a:rPr>
              <a:t>Moderately low data-ink ratio, there are no unnecessary gridlines, but the double heading is quite an overkill.</a:t>
            </a:r>
          </a:p>
          <a:p>
            <a:pPr>
              <a:buFont typeface="Arial" panose="020B0604020202020204" pitchFamily="34" charset="0"/>
              <a:buChar char="•"/>
            </a:pPr>
            <a:r>
              <a:rPr lang="en-US" sz="2100" b="1" dirty="0">
                <a:solidFill>
                  <a:srgbClr val="000000"/>
                </a:solidFill>
                <a:latin typeface="Calibri" panose="020F0502020204030204" pitchFamily="34" charset="0"/>
                <a:ea typeface="Calibri" panose="020F0502020204030204" pitchFamily="34" charset="0"/>
                <a:cs typeface="Calibri" panose="020F0502020204030204" pitchFamily="34" charset="0"/>
              </a:rPr>
              <a:t>Other Data Visualization Design Issues: </a:t>
            </a:r>
          </a:p>
          <a:p>
            <a:pPr lvl="1">
              <a:buFont typeface="Arial" panose="020B0604020202020204" pitchFamily="34" charset="0"/>
              <a:buChar char="•"/>
            </a:pPr>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The choice of the chart is not right for the message being depicted in the chart. Stacked column charts do a better job of portraying composition.</a:t>
            </a:r>
          </a:p>
          <a:p>
            <a:pPr lvl="1"/>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There are no axes labels. I understand that the graph can be easily understood, however, axes labels would have been helpful.</a:t>
            </a:r>
          </a:p>
          <a:p>
            <a:pPr lvl="1"/>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This chart maximizes eye travel and cognitive load. If an end user wants to know how many males died in a certain year, they will have to figure out which line color to look out for and then trace the line to the vertical axis.</a:t>
            </a:r>
          </a:p>
          <a:p>
            <a:r>
              <a:rPr lang="en-US" sz="2100" b="1" dirty="0">
                <a:solidFill>
                  <a:srgbClr val="000000"/>
                </a:solidFill>
                <a:latin typeface="Calibri" panose="020F0502020204030204" pitchFamily="34" charset="0"/>
                <a:ea typeface="Calibri" panose="020F0502020204030204" pitchFamily="34" charset="0"/>
                <a:cs typeface="Calibri" panose="020F0502020204030204" pitchFamily="34" charset="0"/>
              </a:rPr>
              <a:t>Proposed Corrections</a:t>
            </a:r>
          </a:p>
          <a:p>
            <a:pPr lvl="1"/>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Changing the chart to a</a:t>
            </a:r>
            <a:r>
              <a:rPr kumimoji="0" lang="en-US" sz="19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stacked column chart would have been a better choice in conveying the message. </a:t>
            </a:r>
          </a:p>
          <a:p>
            <a:pPr lvl="1"/>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Add axes labels to the vertical and horizontal axes.</a:t>
            </a:r>
          </a:p>
          <a:p>
            <a:pPr lvl="1"/>
            <a:r>
              <a:rPr lang="en-US" sz="1900" dirty="0">
                <a:solidFill>
                  <a:srgbClr val="000000"/>
                </a:solidFill>
                <a:latin typeface="Calibri" panose="020F0502020204030204" pitchFamily="34" charset="0"/>
                <a:ea typeface="Calibri" panose="020F0502020204030204" pitchFamily="34" charset="0"/>
                <a:cs typeface="Calibri" panose="020F0502020204030204" pitchFamily="34" charset="0"/>
              </a:rPr>
              <a:t>Add Data labels to minimize eye travel and cognitive load.</a:t>
            </a:r>
          </a:p>
          <a:p>
            <a:endParaRPr lang="en-US" dirty="0"/>
          </a:p>
        </p:txBody>
      </p:sp>
    </p:spTree>
    <p:extLst>
      <p:ext uri="{BB962C8B-B14F-4D97-AF65-F5344CB8AC3E}">
        <p14:creationId xmlns:p14="http://schemas.microsoft.com/office/powerpoint/2010/main" val="810151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FADA3-70C9-C849-ADAA-7567515AB96B}"/>
              </a:ext>
            </a:extLst>
          </p:cNvPr>
          <p:cNvSpPr>
            <a:spLocks noGrp="1"/>
          </p:cNvSpPr>
          <p:nvPr>
            <p:ph type="title"/>
          </p:nvPr>
        </p:nvSpPr>
        <p:spPr>
          <a:xfrm>
            <a:off x="533400" y="681037"/>
            <a:ext cx="11264900" cy="805597"/>
          </a:xfrm>
        </p:spPr>
        <p:txBody>
          <a:bodyPr>
            <a:noAutofit/>
          </a:bodyPr>
          <a:lstStyle/>
          <a:p>
            <a:r>
              <a:rPr lang="en-US" sz="4000" b="1" dirty="0"/>
              <a:t>Revised chart for Number of Deaths from Heroin by TS</a:t>
            </a:r>
            <a:endParaRPr lang="en-US" sz="4000" dirty="0"/>
          </a:p>
        </p:txBody>
      </p:sp>
      <p:graphicFrame>
        <p:nvGraphicFramePr>
          <p:cNvPr id="4" name="Content Placeholder 3">
            <a:extLst>
              <a:ext uri="{FF2B5EF4-FFF2-40B4-BE49-F238E27FC236}">
                <a16:creationId xmlns:a16="http://schemas.microsoft.com/office/drawing/2014/main" id="{91590B36-F6F9-5212-F220-9E6306AF6A08}"/>
              </a:ext>
            </a:extLst>
          </p:cNvPr>
          <p:cNvGraphicFramePr>
            <a:graphicFrameLocks noGrp="1"/>
          </p:cNvGraphicFramePr>
          <p:nvPr>
            <p:ph idx="1"/>
            <p:extLst>
              <p:ext uri="{D42A27DB-BD31-4B8C-83A1-F6EECF244321}">
                <p14:modId xmlns:p14="http://schemas.microsoft.com/office/powerpoint/2010/main" val="1463581317"/>
              </p:ext>
            </p:extLst>
          </p:nvPr>
        </p:nvGraphicFramePr>
        <p:xfrm>
          <a:off x="1096963" y="1846263"/>
          <a:ext cx="10058400" cy="40227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62514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210C-D90D-6E35-F1C7-84FE31942BF8}"/>
              </a:ext>
            </a:extLst>
          </p:cNvPr>
          <p:cNvSpPr>
            <a:spLocks noGrp="1"/>
          </p:cNvSpPr>
          <p:nvPr>
            <p:ph type="title"/>
          </p:nvPr>
        </p:nvSpPr>
        <p:spPr>
          <a:xfrm>
            <a:off x="1097280" y="286603"/>
            <a:ext cx="10058400" cy="602397"/>
          </a:xfrm>
        </p:spPr>
        <p:txBody>
          <a:bodyPr>
            <a:normAutofit fontScale="90000"/>
          </a:bodyPr>
          <a:lstStyle/>
          <a:p>
            <a:r>
              <a:rPr lang="en-US" b="1" dirty="0"/>
              <a:t>Part 3 - Reflection</a:t>
            </a:r>
          </a:p>
        </p:txBody>
      </p:sp>
      <p:sp>
        <p:nvSpPr>
          <p:cNvPr id="3" name="Content Placeholder 2">
            <a:extLst>
              <a:ext uri="{FF2B5EF4-FFF2-40B4-BE49-F238E27FC236}">
                <a16:creationId xmlns:a16="http://schemas.microsoft.com/office/drawing/2014/main" id="{7F54454C-AFF9-78BB-B90A-912BCCFE825C}"/>
              </a:ext>
            </a:extLst>
          </p:cNvPr>
          <p:cNvSpPr>
            <a:spLocks noGrp="1"/>
          </p:cNvSpPr>
          <p:nvPr>
            <p:ph idx="1"/>
          </p:nvPr>
        </p:nvSpPr>
        <p:spPr>
          <a:xfrm>
            <a:off x="635000" y="1473200"/>
            <a:ext cx="11303000" cy="4838700"/>
          </a:xfrm>
        </p:spPr>
        <p:txBody>
          <a:bodyPr>
            <a:normAutofit fontScale="25000" lnSpcReduction="20000"/>
          </a:bodyPr>
          <a:lstStyle/>
          <a:p>
            <a:pPr marL="0" indent="0">
              <a:buNone/>
            </a:pPr>
            <a:r>
              <a:rPr lang="en-US" sz="8000" b="1" dirty="0">
                <a:latin typeface="Arial" panose="020B0604020202020204" pitchFamily="34" charset="0"/>
                <a:cs typeface="Arial" panose="020B0604020202020204" pitchFamily="34" charset="0"/>
              </a:rPr>
              <a:t>Summary of Key Learning</a:t>
            </a:r>
          </a:p>
          <a:p>
            <a:pPr marL="0" marR="0" indent="0">
              <a:lnSpc>
                <a:spcPct val="115000"/>
              </a:lnSpc>
              <a:spcAft>
                <a:spcPts val="800"/>
              </a:spcAft>
              <a:buNone/>
            </a:pPr>
            <a:r>
              <a:rPr lang="en-US" sz="5600" kern="100" dirty="0">
                <a:effectLst/>
                <a:latin typeface="Arial" panose="020B0604020202020204" pitchFamily="34" charset="0"/>
                <a:ea typeface="Calibri" panose="020F0502020204030204" pitchFamily="34" charset="0"/>
                <a:cs typeface="Arial" panose="020B0604020202020204" pitchFamily="34" charset="0"/>
              </a:rPr>
              <a:t>Some of the visualization principles and concepts discussed in the third chapter include:</a:t>
            </a:r>
          </a:p>
          <a:p>
            <a:pPr marR="0">
              <a:lnSpc>
                <a:spcPct val="115000"/>
              </a:lnSpc>
              <a:spcAft>
                <a:spcPts val="800"/>
              </a:spcAft>
              <a:buFont typeface="Arial" panose="020B0604020202020204" pitchFamily="34" charset="0"/>
              <a:buChar char="•"/>
            </a:pPr>
            <a:r>
              <a:rPr lang="en-US" sz="5600" b="1" kern="100" dirty="0">
                <a:effectLst/>
                <a:latin typeface="Arial" panose="020B0604020202020204" pitchFamily="34" charset="0"/>
                <a:ea typeface="Calibri" panose="020F0502020204030204" pitchFamily="34" charset="0"/>
                <a:cs typeface="Arial" panose="020B0604020202020204" pitchFamily="34" charset="0"/>
              </a:rPr>
              <a:t>Preattentive Attributes</a:t>
            </a:r>
            <a:r>
              <a:rPr lang="en-US" sz="5600" kern="100" dirty="0">
                <a:effectLst/>
                <a:latin typeface="Arial" panose="020B0604020202020204" pitchFamily="34" charset="0"/>
                <a:ea typeface="Calibri" panose="020F0502020204030204" pitchFamily="34" charset="0"/>
                <a:cs typeface="Arial" panose="020B0604020202020204" pitchFamily="34" charset="0"/>
              </a:rPr>
              <a:t>: Attributes such as color, form, length, spatial positioning, and movements are important attributes to consider when creating a data visualization tool. These are attributes that can be processed quickly, which is the essence of a good visualization tool. The charts in my examples made use primarily of </a:t>
            </a:r>
            <a:r>
              <a:rPr lang="en-US" sz="5600" kern="100" dirty="0">
                <a:latin typeface="Arial" panose="020B0604020202020204" pitchFamily="34" charset="0"/>
                <a:ea typeface="Calibri" panose="020F0502020204030204" pitchFamily="34" charset="0"/>
                <a:cs typeface="Arial" panose="020B0604020202020204" pitchFamily="34" charset="0"/>
              </a:rPr>
              <a:t>the </a:t>
            </a:r>
            <a:r>
              <a:rPr lang="en-US" sz="5600" kern="100" dirty="0">
                <a:effectLst/>
                <a:latin typeface="Arial" panose="020B0604020202020204" pitchFamily="34" charset="0"/>
                <a:ea typeface="Calibri" panose="020F0502020204030204" pitchFamily="34" charset="0"/>
                <a:cs typeface="Arial" panose="020B0604020202020204" pitchFamily="34" charset="0"/>
              </a:rPr>
              <a:t>color attribute and the length attribute in the second chart.</a:t>
            </a:r>
          </a:p>
          <a:p>
            <a:pPr marR="0">
              <a:lnSpc>
                <a:spcPct val="115000"/>
              </a:lnSpc>
              <a:spcAft>
                <a:spcPts val="800"/>
              </a:spcAft>
              <a:buFont typeface="Arial" panose="020B0604020202020204" pitchFamily="34" charset="0"/>
              <a:buChar char="•"/>
            </a:pPr>
            <a:r>
              <a:rPr lang="en-US" sz="5600" b="1" kern="100" dirty="0">
                <a:effectLst/>
                <a:latin typeface="Arial" panose="020B0604020202020204" pitchFamily="34" charset="0"/>
                <a:ea typeface="Calibri" panose="020F0502020204030204" pitchFamily="34" charset="0"/>
                <a:cs typeface="Arial" panose="020B0604020202020204" pitchFamily="34" charset="0"/>
              </a:rPr>
              <a:t>Gestalt Principles:</a:t>
            </a:r>
            <a:r>
              <a:rPr lang="en-US" sz="5600" kern="100" dirty="0">
                <a:effectLst/>
                <a:latin typeface="Arial" panose="020B0604020202020204" pitchFamily="34" charset="0"/>
                <a:ea typeface="Calibri" panose="020F0502020204030204" pitchFamily="34" charset="0"/>
                <a:cs typeface="Arial" panose="020B0604020202020204" pitchFamily="34" charset="0"/>
              </a:rPr>
              <a:t> Principles such as connection, similarity, enclosure, and proximity are important to the creation of effective data visualization. The time series data in my examples made use of the connection principles, which is typical of time series data.</a:t>
            </a:r>
          </a:p>
          <a:p>
            <a:pPr marR="0">
              <a:lnSpc>
                <a:spcPct val="115000"/>
              </a:lnSpc>
              <a:spcAft>
                <a:spcPts val="800"/>
              </a:spcAft>
              <a:buFont typeface="Arial" panose="020B0604020202020204" pitchFamily="34" charset="0"/>
              <a:buChar char="•"/>
            </a:pPr>
            <a:r>
              <a:rPr lang="en-US" sz="5600" b="1" kern="100" dirty="0">
                <a:effectLst/>
                <a:latin typeface="Arial" panose="020B0604020202020204" pitchFamily="34" charset="0"/>
                <a:ea typeface="Calibri" panose="020F0502020204030204" pitchFamily="34" charset="0"/>
                <a:cs typeface="Arial" panose="020B0604020202020204" pitchFamily="34" charset="0"/>
              </a:rPr>
              <a:t>Decluttering:</a:t>
            </a:r>
            <a:r>
              <a:rPr lang="en-US" sz="5600" kern="100" dirty="0">
                <a:effectLst/>
                <a:latin typeface="Arial" panose="020B0604020202020204" pitchFamily="34" charset="0"/>
                <a:ea typeface="Calibri" panose="020F0502020204030204" pitchFamily="34" charset="0"/>
                <a:cs typeface="Arial" panose="020B0604020202020204" pitchFamily="34" charset="0"/>
              </a:rPr>
              <a:t> The concept of eliminating unnecessary ink in a chart and ensuring a high data-ink ratio. Increasing the data-ink was the bedrock of my examples as decluttering was needed to achieve better charts.</a:t>
            </a:r>
          </a:p>
          <a:p>
            <a:pPr marR="0">
              <a:lnSpc>
                <a:spcPct val="115000"/>
              </a:lnSpc>
              <a:spcAft>
                <a:spcPts val="800"/>
              </a:spcAft>
              <a:buFont typeface="Arial" panose="020B0604020202020204" pitchFamily="34" charset="0"/>
              <a:buChar char="•"/>
            </a:pPr>
            <a:r>
              <a:rPr lang="en-US" sz="5600" b="1" kern="100" dirty="0">
                <a:effectLst/>
                <a:latin typeface="Arial" panose="020B0604020202020204" pitchFamily="34" charset="0"/>
                <a:ea typeface="Calibri" panose="020F0502020204030204" pitchFamily="34" charset="0"/>
                <a:cs typeface="Arial" panose="020B0604020202020204" pitchFamily="34" charset="0"/>
              </a:rPr>
              <a:t>Minimizing Eye Travel:</a:t>
            </a:r>
            <a:r>
              <a:rPr lang="en-US" sz="5600" kern="100" dirty="0">
                <a:effectLst/>
                <a:latin typeface="Arial" panose="020B0604020202020204" pitchFamily="34" charset="0"/>
                <a:ea typeface="Calibri" panose="020F0502020204030204" pitchFamily="34" charset="0"/>
                <a:cs typeface="Arial" panose="020B0604020202020204" pitchFamily="34" charset="0"/>
              </a:rPr>
              <a:t> The notion of minimizing cognitive load by minimizing eye travel in charts, can be achieved by keeping all necessary data needed to interpret a chart close by.</a:t>
            </a:r>
          </a:p>
          <a:p>
            <a:pPr marR="0">
              <a:lnSpc>
                <a:spcPct val="115000"/>
              </a:lnSpc>
              <a:spcAft>
                <a:spcPts val="800"/>
              </a:spcAft>
              <a:buFont typeface="Arial" panose="020B0604020202020204" pitchFamily="34" charset="0"/>
              <a:buChar char="•"/>
            </a:pPr>
            <a:r>
              <a:rPr lang="en-US" sz="5600" b="1" kern="100" dirty="0">
                <a:effectLst/>
                <a:latin typeface="Arial" panose="020B0604020202020204" pitchFamily="34" charset="0"/>
                <a:ea typeface="Calibri" panose="020F0502020204030204" pitchFamily="34" charset="0"/>
                <a:cs typeface="Arial" panose="020B0604020202020204" pitchFamily="34" charset="0"/>
              </a:rPr>
              <a:t>Choosing The Right Font:</a:t>
            </a:r>
            <a:r>
              <a:rPr lang="en-US" sz="5600" kern="100" dirty="0">
                <a:effectLst/>
                <a:latin typeface="Arial" panose="020B0604020202020204" pitchFamily="34" charset="0"/>
                <a:ea typeface="Calibri" panose="020F0502020204030204" pitchFamily="34" charset="0"/>
                <a:cs typeface="Arial" panose="020B0604020202020204" pitchFamily="34" charset="0"/>
              </a:rPr>
              <a:t> Selecting the correct font for my chart has never been something I considered before taking this class, So I was grateful to find out that there are dos and don’ts of font types to use.</a:t>
            </a:r>
          </a:p>
          <a:p>
            <a:pPr marR="0">
              <a:lnSpc>
                <a:spcPct val="115000"/>
              </a:lnSpc>
              <a:spcAft>
                <a:spcPts val="800"/>
              </a:spcAft>
              <a:buFont typeface="Arial" panose="020B0604020202020204" pitchFamily="34" charset="0"/>
              <a:buChar char="•"/>
            </a:pPr>
            <a:r>
              <a:rPr lang="en-US" sz="5600" b="1" kern="100" dirty="0">
                <a:effectLst/>
                <a:latin typeface="Arial" panose="020B0604020202020204" pitchFamily="34" charset="0"/>
                <a:ea typeface="Calibri" panose="020F0502020204030204" pitchFamily="34" charset="0"/>
                <a:cs typeface="Arial" panose="020B0604020202020204" pitchFamily="34" charset="0"/>
              </a:rPr>
              <a:t>Wrong types of chart:</a:t>
            </a:r>
            <a:r>
              <a:rPr lang="en-US" sz="5600" kern="100" dirty="0">
                <a:effectLst/>
                <a:latin typeface="Arial" panose="020B0604020202020204" pitchFamily="34" charset="0"/>
                <a:ea typeface="Calibri" panose="020F0502020204030204" pitchFamily="34" charset="0"/>
                <a:cs typeface="Arial" panose="020B0604020202020204" pitchFamily="34" charset="0"/>
              </a:rPr>
              <a:t> I learned that certain chart types such as Pie Charts and Area Charts are discouraged. The wrong type of chart was used in my second example, which played a role in the readability of the chart.</a:t>
            </a:r>
          </a:p>
          <a:p>
            <a:endParaRPr lang="en-US" dirty="0"/>
          </a:p>
        </p:txBody>
      </p:sp>
    </p:spTree>
    <p:extLst>
      <p:ext uri="{BB962C8B-B14F-4D97-AF65-F5344CB8AC3E}">
        <p14:creationId xmlns:p14="http://schemas.microsoft.com/office/powerpoint/2010/main" val="637208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53FC1-91AD-C7E5-3C3A-64EFAA8DE231}"/>
              </a:ext>
            </a:extLst>
          </p:cNvPr>
          <p:cNvSpPr>
            <a:spLocks noGrp="1"/>
          </p:cNvSpPr>
          <p:nvPr>
            <p:ph type="title"/>
          </p:nvPr>
        </p:nvSpPr>
        <p:spPr>
          <a:xfrm>
            <a:off x="1097280" y="286603"/>
            <a:ext cx="10058400" cy="843697"/>
          </a:xfrm>
        </p:spPr>
        <p:txBody>
          <a:bodyPr/>
          <a:lstStyle/>
          <a:p>
            <a:r>
              <a:rPr lang="en-US" dirty="0"/>
              <a:t>Part 3 - Reflection</a:t>
            </a:r>
          </a:p>
        </p:txBody>
      </p:sp>
      <p:sp>
        <p:nvSpPr>
          <p:cNvPr id="3" name="Content Placeholder 2">
            <a:extLst>
              <a:ext uri="{FF2B5EF4-FFF2-40B4-BE49-F238E27FC236}">
                <a16:creationId xmlns:a16="http://schemas.microsoft.com/office/drawing/2014/main" id="{9270A13C-4236-A030-CD7F-8336C7F68519}"/>
              </a:ext>
            </a:extLst>
          </p:cNvPr>
          <p:cNvSpPr>
            <a:spLocks noGrp="1"/>
          </p:cNvSpPr>
          <p:nvPr>
            <p:ph idx="1"/>
          </p:nvPr>
        </p:nvSpPr>
        <p:spPr>
          <a:xfrm>
            <a:off x="1097280" y="1435100"/>
            <a:ext cx="10058400" cy="4433994"/>
          </a:xfrm>
        </p:spPr>
        <p:txBody>
          <a:bodyPr/>
          <a:lstStyle/>
          <a:p>
            <a:pPr marL="0" indent="0">
              <a:buNone/>
            </a:pPr>
            <a:r>
              <a:rPr lang="en-US" sz="2000" b="1" kern="100" dirty="0">
                <a:effectLst/>
                <a:latin typeface="Arial" panose="020B0604020202020204" pitchFamily="34" charset="0"/>
                <a:ea typeface="Aptos" panose="020B0004020202020204" pitchFamily="34" charset="0"/>
                <a:cs typeface="Arial" panose="020B0604020202020204" pitchFamily="34" charset="0"/>
              </a:rPr>
              <a:t>Application of Concepts</a:t>
            </a:r>
            <a:endParaRPr lang="en-US" sz="2000" kern="100" dirty="0">
              <a:effectLst/>
              <a:latin typeface="Arial" panose="020B0604020202020204" pitchFamily="34" charset="0"/>
              <a:ea typeface="Aptos" panose="020B0004020202020204" pitchFamily="34" charset="0"/>
              <a:cs typeface="Arial" panose="020B0604020202020204" pitchFamily="34" charset="0"/>
            </a:endParaRPr>
          </a:p>
          <a:p>
            <a:pPr marL="0" marR="0" indent="0">
              <a:lnSpc>
                <a:spcPct val="115000"/>
              </a:lnSpc>
              <a:spcAft>
                <a:spcPts val="800"/>
              </a:spcAft>
              <a:buNone/>
            </a:pPr>
            <a:r>
              <a:rPr lang="en-US" sz="1800" kern="100" dirty="0">
                <a:effectLst/>
                <a:latin typeface="Arial" panose="020B0604020202020204" pitchFamily="34" charset="0"/>
                <a:ea typeface="Aptos" panose="020B0004020202020204" pitchFamily="34" charset="0"/>
                <a:cs typeface="Arial" panose="020B0604020202020204" pitchFamily="34" charset="0"/>
              </a:rPr>
              <a:t>Some of the concepts I will practice in my work as a business analyst include:</a:t>
            </a:r>
          </a:p>
          <a:p>
            <a:pPr marL="342900" marR="0" lvl="0" indent="-342900">
              <a:lnSpc>
                <a:spcPct val="115000"/>
              </a:lnSpc>
              <a:spcAft>
                <a:spcPts val="800"/>
              </a:spcAft>
              <a:buFont typeface="+mj-lt"/>
              <a:buAutoNum type="arabicPeriod"/>
              <a:tabLst>
                <a:tab pos="457200" algn="l"/>
              </a:tabLst>
            </a:pPr>
            <a:r>
              <a:rPr lang="en-US" sz="1800" kern="100" dirty="0">
                <a:effectLst/>
                <a:latin typeface="Arial" panose="020B0604020202020204" pitchFamily="34" charset="0"/>
                <a:ea typeface="Aptos" panose="020B0004020202020204" pitchFamily="34" charset="0"/>
                <a:cs typeface="Arial" panose="020B0604020202020204" pitchFamily="34" charset="0"/>
              </a:rPr>
              <a:t>Ensuring that only the necessary information will go on my chart. Going forward, I will make sure that my visualization tools for my ad-hoc charts and reports needed at work are decluttered and only have the necessary information needed to convey my data and maintain a high data-ink ratio.</a:t>
            </a:r>
          </a:p>
          <a:p>
            <a:pPr marL="342900" marR="0" lvl="0" indent="-342900">
              <a:lnSpc>
                <a:spcPct val="115000"/>
              </a:lnSpc>
              <a:spcAft>
                <a:spcPts val="800"/>
              </a:spcAft>
              <a:buFont typeface="+mj-lt"/>
              <a:buAutoNum type="arabicPeriod"/>
              <a:tabLst>
                <a:tab pos="457200" algn="l"/>
              </a:tabLst>
            </a:pPr>
            <a:r>
              <a:rPr lang="en-US" sz="1800" kern="100" dirty="0">
                <a:effectLst/>
                <a:latin typeface="Arial" panose="020B0604020202020204" pitchFamily="34" charset="0"/>
                <a:ea typeface="Aptos" panose="020B0004020202020204" pitchFamily="34" charset="0"/>
                <a:cs typeface="Arial" panose="020B0604020202020204" pitchFamily="34" charset="0"/>
              </a:rPr>
              <a:t>Choosing the right chart and the right font will be something I’ll keep in mind now. Before this class, the Pie chart has always been my go-to chart to visualize quantitative data that adds up to 100 (percentages). Thanks to this class, I now know that bar and column charts are a better alternative. Also, choosing sans-serif fonts for my visualization chart and avoiding serif fonts will be added to my arsenal of knowledge.</a:t>
            </a:r>
          </a:p>
          <a:p>
            <a:endParaRPr lang="en-US" dirty="0"/>
          </a:p>
        </p:txBody>
      </p:sp>
    </p:spTree>
    <p:extLst>
      <p:ext uri="{BB962C8B-B14F-4D97-AF65-F5344CB8AC3E}">
        <p14:creationId xmlns:p14="http://schemas.microsoft.com/office/powerpoint/2010/main" val="2784144320"/>
      </p:ext>
    </p:extLst>
  </p:cSld>
  <p:clrMapOvr>
    <a:masterClrMapping/>
  </p:clrMapOvr>
</p:sld>
</file>

<file path=ppt/theme/theme1.xml><?xml version="1.0" encoding="utf-8"?>
<a:theme xmlns:a="http://schemas.openxmlformats.org/drawingml/2006/main" name="Retrospect">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5389</TotalTime>
  <Words>1352</Words>
  <Application>Microsoft Office PowerPoint</Application>
  <PresentationFormat>Widescreen</PresentationFormat>
  <Paragraphs>82</Paragraphs>
  <Slides>15</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Calibri Light</vt:lpstr>
      <vt:lpstr>Retrospect</vt:lpstr>
      <vt:lpstr>CIDM 6312- Seminar in Information Visualization. Homework 2</vt:lpstr>
      <vt:lpstr>Part 1 - Initial Line Chart for Scarf Sales by TS.</vt:lpstr>
      <vt:lpstr>Part 1 -Revised Line Chart for Scarf Sales by TS</vt:lpstr>
      <vt:lpstr>Why the Changes were necessary based on Chapter 3 concepts</vt:lpstr>
      <vt:lpstr>Part 1 - Sorted Column Chart for Annual Revenues by TS.</vt:lpstr>
      <vt:lpstr>Part 2 - Chart of Number of Industrial Robots installed</vt:lpstr>
      <vt:lpstr>Goal, Chart type, and Hyperlink (Slide 6)</vt:lpstr>
      <vt:lpstr>Analysis &amp; Critique/Proposed Corrections</vt:lpstr>
      <vt:lpstr>Revised chart for Number of Industrial Robots by TS</vt:lpstr>
      <vt:lpstr>Part 2 - Chart of Number of Deaths from Heroin (2001 – 2013)</vt:lpstr>
      <vt:lpstr>Goal, Chart type, and Hyperlink (Slide 10)</vt:lpstr>
      <vt:lpstr>Analysis &amp; Critique/Proposed Corrections</vt:lpstr>
      <vt:lpstr>Revised chart for Number of Deaths from Heroin by TS</vt:lpstr>
      <vt:lpstr>Part 3 - Reflection</vt:lpstr>
      <vt:lpstr>Part 3 -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akeem shadare</dc:creator>
  <cp:lastModifiedBy>akeem shadare</cp:lastModifiedBy>
  <cp:revision>1</cp:revision>
  <dcterms:created xsi:type="dcterms:W3CDTF">2025-02-04T13:18:27Z</dcterms:created>
  <dcterms:modified xsi:type="dcterms:W3CDTF">2025-02-12T18:01:59Z</dcterms:modified>
</cp:coreProperties>
</file>