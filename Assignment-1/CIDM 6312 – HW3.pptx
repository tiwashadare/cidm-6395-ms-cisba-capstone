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4" r:id="rId8"/>
    <p:sldId id="261" r:id="rId9"/>
    <p:sldId id="263"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90249A-762B-44F0-8607-09EFB1559BED}" v="5" dt="2025-02-14T04:00:44.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10" d="100"/>
          <a:sy n="110" d="100"/>
        </p:scale>
        <p:origin x="63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eem shadare" userId="9a98641ab4cd53fe" providerId="LiveId" clId="{7990249A-762B-44F0-8607-09EFB1559BED}"/>
    <pc:docChg chg="undo custSel addSld modSld">
      <pc:chgData name="akeem shadare" userId="9a98641ab4cd53fe" providerId="LiveId" clId="{7990249A-762B-44F0-8607-09EFB1559BED}" dt="2025-02-14T21:56:00.482" v="4646" actId="27636"/>
      <pc:docMkLst>
        <pc:docMk/>
      </pc:docMkLst>
      <pc:sldChg chg="addSp delSp modSp new mod">
        <pc:chgData name="akeem shadare" userId="9a98641ab4cd53fe" providerId="LiveId" clId="{7990249A-762B-44F0-8607-09EFB1559BED}" dt="2025-02-14T04:05:47.761" v="532" actId="122"/>
        <pc:sldMkLst>
          <pc:docMk/>
          <pc:sldMk cId="2925333320" sldId="260"/>
        </pc:sldMkLst>
        <pc:spChg chg="mod">
          <ac:chgData name="akeem shadare" userId="9a98641ab4cd53fe" providerId="LiveId" clId="{7990249A-762B-44F0-8607-09EFB1559BED}" dt="2025-02-14T04:05:47.761" v="532" actId="122"/>
          <ac:spMkLst>
            <pc:docMk/>
            <pc:sldMk cId="2925333320" sldId="260"/>
            <ac:spMk id="2" creationId="{024C60B8-7D81-2148-3CDB-2266617661F8}"/>
          </ac:spMkLst>
        </pc:spChg>
        <pc:spChg chg="del">
          <ac:chgData name="akeem shadare" userId="9a98641ab4cd53fe" providerId="LiveId" clId="{7990249A-762B-44F0-8607-09EFB1559BED}" dt="2025-02-14T03:30:50.711" v="1" actId="22"/>
          <ac:spMkLst>
            <pc:docMk/>
            <pc:sldMk cId="2925333320" sldId="260"/>
            <ac:spMk id="3" creationId="{46725536-4A2B-EE65-1BA2-D3BABFCD2A30}"/>
          </ac:spMkLst>
        </pc:spChg>
        <pc:spChg chg="add del mod">
          <ac:chgData name="akeem shadare" userId="9a98641ab4cd53fe" providerId="LiveId" clId="{7990249A-762B-44F0-8607-09EFB1559BED}" dt="2025-02-14T04:01:56.793" v="329" actId="478"/>
          <ac:spMkLst>
            <pc:docMk/>
            <pc:sldMk cId="2925333320" sldId="260"/>
            <ac:spMk id="6" creationId="{D2A1AEF8-8064-D905-8CD4-4DBFB5A2854D}"/>
          </ac:spMkLst>
        </pc:spChg>
        <pc:spChg chg="add mod">
          <ac:chgData name="akeem shadare" userId="9a98641ab4cd53fe" providerId="LiveId" clId="{7990249A-762B-44F0-8607-09EFB1559BED}" dt="2025-02-14T04:02:27.257" v="336" actId="1076"/>
          <ac:spMkLst>
            <pc:docMk/>
            <pc:sldMk cId="2925333320" sldId="260"/>
            <ac:spMk id="7" creationId="{216E14B2-03BA-CF51-27BA-8CDF804531E6}"/>
          </ac:spMkLst>
        </pc:spChg>
        <pc:picChg chg="add mod ord">
          <ac:chgData name="akeem shadare" userId="9a98641ab4cd53fe" providerId="LiveId" clId="{7990249A-762B-44F0-8607-09EFB1559BED}" dt="2025-02-14T04:02:10.559" v="333" actId="14100"/>
          <ac:picMkLst>
            <pc:docMk/>
            <pc:sldMk cId="2925333320" sldId="260"/>
            <ac:picMk id="5" creationId="{D7744397-058E-896C-8558-7024F30E816B}"/>
          </ac:picMkLst>
        </pc:picChg>
      </pc:sldChg>
      <pc:sldChg chg="addSp delSp modSp new mod">
        <pc:chgData name="akeem shadare" userId="9a98641ab4cd53fe" providerId="LiveId" clId="{7990249A-762B-44F0-8607-09EFB1559BED}" dt="2025-02-14T04:04:28.277" v="425" actId="113"/>
        <pc:sldMkLst>
          <pc:docMk/>
          <pc:sldMk cId="3482813169" sldId="261"/>
        </pc:sldMkLst>
        <pc:spChg chg="mod">
          <ac:chgData name="akeem shadare" userId="9a98641ab4cd53fe" providerId="LiveId" clId="{7990249A-762B-44F0-8607-09EFB1559BED}" dt="2025-02-14T04:04:28.277" v="425" actId="113"/>
          <ac:spMkLst>
            <pc:docMk/>
            <pc:sldMk cId="3482813169" sldId="261"/>
            <ac:spMk id="2" creationId="{EC5E0BA9-DEB9-5FEB-F75D-3697EFBB9D12}"/>
          </ac:spMkLst>
        </pc:spChg>
        <pc:spChg chg="del mod">
          <ac:chgData name="akeem shadare" userId="9a98641ab4cd53fe" providerId="LiveId" clId="{7990249A-762B-44F0-8607-09EFB1559BED}" dt="2025-02-14T03:48:32.061" v="168" actId="22"/>
          <ac:spMkLst>
            <pc:docMk/>
            <pc:sldMk cId="3482813169" sldId="261"/>
            <ac:spMk id="3" creationId="{F47013EB-2099-7C82-46D3-653993A4077F}"/>
          </ac:spMkLst>
        </pc:spChg>
        <pc:spChg chg="add mod">
          <ac:chgData name="akeem shadare" userId="9a98641ab4cd53fe" providerId="LiveId" clId="{7990249A-762B-44F0-8607-09EFB1559BED}" dt="2025-02-14T04:04:12.675" v="422" actId="20577"/>
          <ac:spMkLst>
            <pc:docMk/>
            <pc:sldMk cId="3482813169" sldId="261"/>
            <ac:spMk id="6" creationId="{5CD34AEE-1EB9-C48D-A963-9D5C6FD1CC9F}"/>
          </ac:spMkLst>
        </pc:spChg>
        <pc:picChg chg="add mod ord">
          <ac:chgData name="akeem shadare" userId="9a98641ab4cd53fe" providerId="LiveId" clId="{7990249A-762B-44F0-8607-09EFB1559BED}" dt="2025-02-14T04:02:49.808" v="339" actId="14100"/>
          <ac:picMkLst>
            <pc:docMk/>
            <pc:sldMk cId="3482813169" sldId="261"/>
            <ac:picMk id="5" creationId="{409BF956-1DFF-6682-89F3-6E355F479EC0}"/>
          </ac:picMkLst>
        </pc:picChg>
      </pc:sldChg>
      <pc:sldChg chg="modSp new mod">
        <pc:chgData name="akeem shadare" userId="9a98641ab4cd53fe" providerId="LiveId" clId="{7990249A-762B-44F0-8607-09EFB1559BED}" dt="2025-02-14T21:54:04.468" v="4624" actId="20577"/>
        <pc:sldMkLst>
          <pc:docMk/>
          <pc:sldMk cId="627403069" sldId="262"/>
        </pc:sldMkLst>
        <pc:spChg chg="mod">
          <ac:chgData name="akeem shadare" userId="9a98641ab4cd53fe" providerId="LiveId" clId="{7990249A-762B-44F0-8607-09EFB1559BED}" dt="2025-02-14T04:55:24.142" v="3496" actId="113"/>
          <ac:spMkLst>
            <pc:docMk/>
            <pc:sldMk cId="627403069" sldId="262"/>
            <ac:spMk id="2" creationId="{8A2C2480-846C-77B0-28AA-184BE42379A3}"/>
          </ac:spMkLst>
        </pc:spChg>
        <pc:spChg chg="mod">
          <ac:chgData name="akeem shadare" userId="9a98641ab4cd53fe" providerId="LiveId" clId="{7990249A-762B-44F0-8607-09EFB1559BED}" dt="2025-02-14T21:54:04.468" v="4624" actId="20577"/>
          <ac:spMkLst>
            <pc:docMk/>
            <pc:sldMk cId="627403069" sldId="262"/>
            <ac:spMk id="3" creationId="{3A7ED5C9-45CB-A8BD-C8E5-BA4E1AD15EF6}"/>
          </ac:spMkLst>
        </pc:spChg>
      </pc:sldChg>
      <pc:sldChg chg="modSp new mod">
        <pc:chgData name="akeem shadare" userId="9a98641ab4cd53fe" providerId="LiveId" clId="{7990249A-762B-44F0-8607-09EFB1559BED}" dt="2025-02-14T21:54:55.939" v="4637" actId="20577"/>
        <pc:sldMkLst>
          <pc:docMk/>
          <pc:sldMk cId="3458437163" sldId="263"/>
        </pc:sldMkLst>
        <pc:spChg chg="mod">
          <ac:chgData name="akeem shadare" userId="9a98641ab4cd53fe" providerId="LiveId" clId="{7990249A-762B-44F0-8607-09EFB1559BED}" dt="2025-02-14T21:44:44.223" v="4578" actId="113"/>
          <ac:spMkLst>
            <pc:docMk/>
            <pc:sldMk cId="3458437163" sldId="263"/>
            <ac:spMk id="2" creationId="{D53AD871-51E0-9343-1C4D-3E521F45417D}"/>
          </ac:spMkLst>
        </pc:spChg>
        <pc:spChg chg="mod">
          <ac:chgData name="akeem shadare" userId="9a98641ab4cd53fe" providerId="LiveId" clId="{7990249A-762B-44F0-8607-09EFB1559BED}" dt="2025-02-14T21:54:55.939" v="4637" actId="20577"/>
          <ac:spMkLst>
            <pc:docMk/>
            <pc:sldMk cId="3458437163" sldId="263"/>
            <ac:spMk id="3" creationId="{65599987-88F6-EC4D-07A3-1B87F8022E04}"/>
          </ac:spMkLst>
        </pc:spChg>
      </pc:sldChg>
      <pc:sldChg chg="modSp new mod">
        <pc:chgData name="akeem shadare" userId="9a98641ab4cd53fe" providerId="LiveId" clId="{7990249A-762B-44F0-8607-09EFB1559BED}" dt="2025-02-14T21:51:17.232" v="4610" actId="27636"/>
        <pc:sldMkLst>
          <pc:docMk/>
          <pc:sldMk cId="2727213746" sldId="264"/>
        </pc:sldMkLst>
        <pc:spChg chg="mod">
          <ac:chgData name="akeem shadare" userId="9a98641ab4cd53fe" providerId="LiveId" clId="{7990249A-762B-44F0-8607-09EFB1559BED}" dt="2025-02-14T05:05:50.298" v="4199" actId="20577"/>
          <ac:spMkLst>
            <pc:docMk/>
            <pc:sldMk cId="2727213746" sldId="264"/>
            <ac:spMk id="2" creationId="{00BB52D5-5FB8-0955-27E3-FD5CB7331BC8}"/>
          </ac:spMkLst>
        </pc:spChg>
        <pc:spChg chg="mod">
          <ac:chgData name="akeem shadare" userId="9a98641ab4cd53fe" providerId="LiveId" clId="{7990249A-762B-44F0-8607-09EFB1559BED}" dt="2025-02-14T21:51:17.232" v="4610" actId="27636"/>
          <ac:spMkLst>
            <pc:docMk/>
            <pc:sldMk cId="2727213746" sldId="264"/>
            <ac:spMk id="3" creationId="{4FAC75C0-C5B6-12A9-A265-1A9C2F1D2D81}"/>
          </ac:spMkLst>
        </pc:spChg>
      </pc:sldChg>
      <pc:sldChg chg="modSp new mod">
        <pc:chgData name="akeem shadare" userId="9a98641ab4cd53fe" providerId="LiveId" clId="{7990249A-762B-44F0-8607-09EFB1559BED}" dt="2025-02-14T21:44:21.395" v="4577" actId="5793"/>
        <pc:sldMkLst>
          <pc:docMk/>
          <pc:sldMk cId="1049815884" sldId="265"/>
        </pc:sldMkLst>
        <pc:spChg chg="mod">
          <ac:chgData name="akeem shadare" userId="9a98641ab4cd53fe" providerId="LiveId" clId="{7990249A-762B-44F0-8607-09EFB1559BED}" dt="2025-02-14T05:06:05.859" v="4211" actId="20577"/>
          <ac:spMkLst>
            <pc:docMk/>
            <pc:sldMk cId="1049815884" sldId="265"/>
            <ac:spMk id="2" creationId="{4128B555-CB07-F7B7-BAFA-680DF61F71DD}"/>
          </ac:spMkLst>
        </pc:spChg>
        <pc:spChg chg="mod">
          <ac:chgData name="akeem shadare" userId="9a98641ab4cd53fe" providerId="LiveId" clId="{7990249A-762B-44F0-8607-09EFB1559BED}" dt="2025-02-14T21:44:21.395" v="4577" actId="5793"/>
          <ac:spMkLst>
            <pc:docMk/>
            <pc:sldMk cId="1049815884" sldId="265"/>
            <ac:spMk id="3" creationId="{7B6F311B-BA70-75BA-35CC-FB575F1B5D60}"/>
          </ac:spMkLst>
        </pc:spChg>
      </pc:sldChg>
      <pc:sldChg chg="modSp new mod">
        <pc:chgData name="akeem shadare" userId="9a98641ab4cd53fe" providerId="LiveId" clId="{7990249A-762B-44F0-8607-09EFB1559BED}" dt="2025-02-14T21:41:48.050" v="4567" actId="1076"/>
        <pc:sldMkLst>
          <pc:docMk/>
          <pc:sldMk cId="424643220" sldId="266"/>
        </pc:sldMkLst>
        <pc:spChg chg="mod">
          <ac:chgData name="akeem shadare" userId="9a98641ab4cd53fe" providerId="LiveId" clId="{7990249A-762B-44F0-8607-09EFB1559BED}" dt="2025-02-14T21:41:48.050" v="4567" actId="1076"/>
          <ac:spMkLst>
            <pc:docMk/>
            <pc:sldMk cId="424643220" sldId="266"/>
            <ac:spMk id="2" creationId="{88612FC7-7107-1050-C001-E76094934916}"/>
          </ac:spMkLst>
        </pc:spChg>
        <pc:spChg chg="mod">
          <ac:chgData name="akeem shadare" userId="9a98641ab4cd53fe" providerId="LiveId" clId="{7990249A-762B-44F0-8607-09EFB1559BED}" dt="2025-02-14T21:41:28.655" v="4564" actId="255"/>
          <ac:spMkLst>
            <pc:docMk/>
            <pc:sldMk cId="424643220" sldId="266"/>
            <ac:spMk id="3" creationId="{82D65246-C8FD-2396-4BA7-0DE8B4DAEFFA}"/>
          </ac:spMkLst>
        </pc:spChg>
      </pc:sldChg>
      <pc:sldChg chg="modSp new mod">
        <pc:chgData name="akeem shadare" userId="9a98641ab4cd53fe" providerId="LiveId" clId="{7990249A-762B-44F0-8607-09EFB1559BED}" dt="2025-02-14T21:56:00.482" v="4646" actId="27636"/>
        <pc:sldMkLst>
          <pc:docMk/>
          <pc:sldMk cId="1521716508" sldId="267"/>
        </pc:sldMkLst>
        <pc:spChg chg="mod">
          <ac:chgData name="akeem shadare" userId="9a98641ab4cd53fe" providerId="LiveId" clId="{7990249A-762B-44F0-8607-09EFB1559BED}" dt="2025-02-14T21:42:44.843" v="4574" actId="113"/>
          <ac:spMkLst>
            <pc:docMk/>
            <pc:sldMk cId="1521716508" sldId="267"/>
            <ac:spMk id="2" creationId="{C0791A04-239B-7EC6-5403-25FBF4CB45AF}"/>
          </ac:spMkLst>
        </pc:spChg>
        <pc:spChg chg="mod">
          <ac:chgData name="akeem shadare" userId="9a98641ab4cd53fe" providerId="LiveId" clId="{7990249A-762B-44F0-8607-09EFB1559BED}" dt="2025-02-14T21:56:00.482" v="4646" actId="27636"/>
          <ac:spMkLst>
            <pc:docMk/>
            <pc:sldMk cId="1521716508" sldId="267"/>
            <ac:spMk id="3" creationId="{F30E5367-75E6-6EF2-91D7-C4A9FB453D3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65A448-9A3F-4833-A0A5-99F7B4FFFD77}"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7BDD-055E-42F9-B431-0B2B4993417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946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65A448-9A3F-4833-A0A5-99F7B4FFFD77}"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248480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65A448-9A3F-4833-A0A5-99F7B4FFFD77}"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7BDD-055E-42F9-B431-0B2B4993417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701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65A448-9A3F-4833-A0A5-99F7B4FFFD77}"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2493711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65A448-9A3F-4833-A0A5-99F7B4FFFD77}"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1589993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65A448-9A3F-4833-A0A5-99F7B4FFFD77}"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719388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565A448-9A3F-4833-A0A5-99F7B4FFFD77}" type="datetimeFigureOut">
              <a:rPr lang="en-US" smtClean="0"/>
              <a:t>2/12/2025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220516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565A448-9A3F-4833-A0A5-99F7B4FFFD77}" type="datetimeFigureOut">
              <a:rPr lang="en-US" smtClean="0"/>
              <a:t>2/12/2025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A7E7BDD-055E-42F9-B431-0B2B4993417F}" type="slidenum">
              <a:rPr lang="en-US" smtClean="0"/>
              <a:t>‹#›</a:t>
            </a:fld>
            <a:endParaRPr lang="en-US"/>
          </a:p>
        </p:txBody>
      </p:sp>
    </p:spTree>
    <p:extLst>
      <p:ext uri="{BB962C8B-B14F-4D97-AF65-F5344CB8AC3E}">
        <p14:creationId xmlns:p14="http://schemas.microsoft.com/office/powerpoint/2010/main" val="133353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65A448-9A3F-4833-A0A5-99F7B4FFFD77}"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25303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65A448-9A3F-4833-A0A5-99F7B4FFFD77}"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1364392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65A448-9A3F-4833-A0A5-99F7B4FFFD77}"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7BDD-055E-42F9-B431-0B2B4993417F}" type="slidenum">
              <a:rPr lang="en-US" smtClean="0"/>
              <a:t>‹#›</a:t>
            </a:fld>
            <a:endParaRPr lang="en-US"/>
          </a:p>
        </p:txBody>
      </p:sp>
    </p:spTree>
    <p:extLst>
      <p:ext uri="{BB962C8B-B14F-4D97-AF65-F5344CB8AC3E}">
        <p14:creationId xmlns:p14="http://schemas.microsoft.com/office/powerpoint/2010/main" val="3119626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565A448-9A3F-4833-A0A5-99F7B4FFFD77}" type="datetimeFigureOut">
              <a:rPr lang="en-US" smtClean="0"/>
              <a:t>2/12/2025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A7E7BDD-055E-42F9-B431-0B2B4993417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194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observablehq.com/@ervinkellym/bivariate-choropleth-with-continuous-color-scales-and-too"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hhsbroadcaster.com/10145/life/kit-kat-win-in-hhs-broadcaster-survey-of-students-favorite-halloween-candies/"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193B4-A6B1-94FA-ACB5-54117DE8412D}"/>
              </a:ext>
            </a:extLst>
          </p:cNvPr>
          <p:cNvSpPr>
            <a:spLocks noGrp="1"/>
          </p:cNvSpPr>
          <p:nvPr>
            <p:ph type="ctrTitle"/>
          </p:nvPr>
        </p:nvSpPr>
        <p:spPr/>
        <p:txBody>
          <a:bodyPr/>
          <a:lstStyle/>
          <a:p>
            <a:r>
              <a:rPr lang="en-US" dirty="0"/>
              <a:t>CIDM 6312 – Seminar in Data Visualization.</a:t>
            </a:r>
            <a:br>
              <a:rPr lang="en-US" dirty="0"/>
            </a:br>
            <a:r>
              <a:rPr lang="en-US" dirty="0"/>
              <a:t>HW3</a:t>
            </a:r>
          </a:p>
        </p:txBody>
      </p:sp>
      <p:sp>
        <p:nvSpPr>
          <p:cNvPr id="3" name="Subtitle 2">
            <a:extLst>
              <a:ext uri="{FF2B5EF4-FFF2-40B4-BE49-F238E27FC236}">
                <a16:creationId xmlns:a16="http://schemas.microsoft.com/office/drawing/2014/main" id="{47A390FB-6AEB-35F2-FC00-3414CC97428F}"/>
              </a:ext>
            </a:extLst>
          </p:cNvPr>
          <p:cNvSpPr>
            <a:spLocks noGrp="1"/>
          </p:cNvSpPr>
          <p:nvPr>
            <p:ph type="subTitle" idx="1"/>
          </p:nvPr>
        </p:nvSpPr>
        <p:spPr/>
        <p:txBody>
          <a:bodyPr/>
          <a:lstStyle/>
          <a:p>
            <a:r>
              <a:rPr lang="en-US" dirty="0"/>
              <a:t>Submitted By: </a:t>
            </a:r>
            <a:r>
              <a:rPr lang="en-US" dirty="0" err="1"/>
              <a:t>Tiwalope</a:t>
            </a:r>
            <a:r>
              <a:rPr lang="en-US" dirty="0"/>
              <a:t> Shadare</a:t>
            </a:r>
          </a:p>
        </p:txBody>
      </p:sp>
    </p:spTree>
    <p:extLst>
      <p:ext uri="{BB962C8B-B14F-4D97-AF65-F5344CB8AC3E}">
        <p14:creationId xmlns:p14="http://schemas.microsoft.com/office/powerpoint/2010/main" val="4061612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7870-1289-69AB-710C-4A74F78EBEB2}"/>
              </a:ext>
            </a:extLst>
          </p:cNvPr>
          <p:cNvSpPr>
            <a:spLocks noGrp="1"/>
          </p:cNvSpPr>
          <p:nvPr>
            <p:ph type="title"/>
          </p:nvPr>
        </p:nvSpPr>
        <p:spPr>
          <a:xfrm>
            <a:off x="187891" y="263047"/>
            <a:ext cx="12004110" cy="851769"/>
          </a:xfrm>
        </p:spPr>
        <p:txBody>
          <a:bodyPr>
            <a:noAutofit/>
          </a:bodyPr>
          <a:lstStyle/>
          <a:p>
            <a:r>
              <a:rPr lang="en-US" sz="3200" b="1" dirty="0">
                <a:solidFill>
                  <a:srgbClr val="404040"/>
                </a:solidFill>
                <a:effectLst/>
                <a:latin typeface="Calibri Light" panose="020F0302020204030204" pitchFamily="34" charset="0"/>
              </a:rPr>
              <a:t>Categorical Colors – Stacked Column Chart Depicting Zoo Attendance by TS</a:t>
            </a:r>
            <a:r>
              <a:rPr lang="en-US" sz="3200" dirty="0">
                <a:solidFill>
                  <a:srgbClr val="404040"/>
                </a:solidFill>
                <a:effectLst/>
                <a:latin typeface="Calibri Light" panose="020F0302020204030204" pitchFamily="34" charset="0"/>
              </a:rPr>
              <a:t>.</a:t>
            </a:r>
            <a:endParaRPr lang="en-US" sz="3200" dirty="0"/>
          </a:p>
        </p:txBody>
      </p:sp>
      <p:pic>
        <p:nvPicPr>
          <p:cNvPr id="5" name="Content Placeholder 4">
            <a:extLst>
              <a:ext uri="{FF2B5EF4-FFF2-40B4-BE49-F238E27FC236}">
                <a16:creationId xmlns:a16="http://schemas.microsoft.com/office/drawing/2014/main" id="{CC71DCDB-441F-3775-ED8E-477FC7DF0C2C}"/>
              </a:ext>
            </a:extLst>
          </p:cNvPr>
          <p:cNvPicPr>
            <a:picLocks noGrp="1" noChangeAspect="1"/>
          </p:cNvPicPr>
          <p:nvPr>
            <p:ph idx="1"/>
          </p:nvPr>
        </p:nvPicPr>
        <p:blipFill>
          <a:blip r:embed="rId2"/>
          <a:stretch>
            <a:fillRect/>
          </a:stretch>
        </p:blipFill>
        <p:spPr>
          <a:xfrm>
            <a:off x="1515649" y="1265417"/>
            <a:ext cx="8843375" cy="4972086"/>
          </a:xfrm>
          <a:ln w="9525">
            <a:solidFill>
              <a:schemeClr val="tx1"/>
            </a:solidFill>
          </a:ln>
        </p:spPr>
      </p:pic>
    </p:spTree>
    <p:extLst>
      <p:ext uri="{BB962C8B-B14F-4D97-AF65-F5344CB8AC3E}">
        <p14:creationId xmlns:p14="http://schemas.microsoft.com/office/powerpoint/2010/main" val="2448630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DFCB-1A7F-8B2A-52DB-203F47A96C8B}"/>
              </a:ext>
            </a:extLst>
          </p:cNvPr>
          <p:cNvSpPr>
            <a:spLocks noGrp="1"/>
          </p:cNvSpPr>
          <p:nvPr>
            <p:ph type="title"/>
          </p:nvPr>
        </p:nvSpPr>
        <p:spPr>
          <a:xfrm>
            <a:off x="150311" y="187891"/>
            <a:ext cx="11686785" cy="801122"/>
          </a:xfrm>
        </p:spPr>
        <p:txBody>
          <a:bodyPr>
            <a:noAutofit/>
          </a:bodyPr>
          <a:lstStyle/>
          <a:p>
            <a:pPr algn="ctr"/>
            <a:r>
              <a:rPr lang="en-US" sz="3200" b="1" dirty="0">
                <a:solidFill>
                  <a:srgbClr val="404040"/>
                </a:solidFill>
                <a:effectLst/>
                <a:latin typeface="Calibri Light" panose="020F0302020204030204" pitchFamily="34" charset="0"/>
              </a:rPr>
              <a:t>Choropleth Map in Sequential Color – Displaying Average Temperature across the US by TS.</a:t>
            </a:r>
            <a:endParaRPr lang="en-US" sz="3200" b="1" dirty="0"/>
          </a:p>
        </p:txBody>
      </p:sp>
      <p:pic>
        <p:nvPicPr>
          <p:cNvPr id="5" name="Content Placeholder 4">
            <a:extLst>
              <a:ext uri="{FF2B5EF4-FFF2-40B4-BE49-F238E27FC236}">
                <a16:creationId xmlns:a16="http://schemas.microsoft.com/office/drawing/2014/main" id="{D8F8F5D6-A814-4BE3-B229-6107D669BA7E}"/>
              </a:ext>
            </a:extLst>
          </p:cNvPr>
          <p:cNvPicPr>
            <a:picLocks noGrp="1" noChangeAspect="1"/>
          </p:cNvPicPr>
          <p:nvPr>
            <p:ph idx="1"/>
          </p:nvPr>
        </p:nvPicPr>
        <p:blipFill>
          <a:blip r:embed="rId2"/>
          <a:stretch>
            <a:fillRect/>
          </a:stretch>
        </p:blipFill>
        <p:spPr>
          <a:xfrm>
            <a:off x="1352811" y="1251943"/>
            <a:ext cx="8904426" cy="4860758"/>
          </a:xfrm>
          <a:ln w="9525">
            <a:solidFill>
              <a:schemeClr val="tx1"/>
            </a:solidFill>
          </a:ln>
        </p:spPr>
      </p:pic>
    </p:spTree>
    <p:extLst>
      <p:ext uri="{BB962C8B-B14F-4D97-AF65-F5344CB8AC3E}">
        <p14:creationId xmlns:p14="http://schemas.microsoft.com/office/powerpoint/2010/main" val="3531167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5E2B3-41D7-40D7-4621-52F04E782865}"/>
              </a:ext>
            </a:extLst>
          </p:cNvPr>
          <p:cNvSpPr>
            <a:spLocks noGrp="1"/>
          </p:cNvSpPr>
          <p:nvPr>
            <p:ph type="title"/>
          </p:nvPr>
        </p:nvSpPr>
        <p:spPr>
          <a:xfrm>
            <a:off x="526094" y="374285"/>
            <a:ext cx="11168206" cy="702303"/>
          </a:xfrm>
        </p:spPr>
        <p:txBody>
          <a:bodyPr>
            <a:noAutofit/>
          </a:bodyPr>
          <a:lstStyle/>
          <a:p>
            <a:pPr algn="ctr"/>
            <a:r>
              <a:rPr lang="en-US" sz="3200" b="1" dirty="0">
                <a:solidFill>
                  <a:srgbClr val="404040"/>
                </a:solidFill>
                <a:effectLst/>
                <a:latin typeface="Calibri Light" panose="020F0302020204030204" pitchFamily="34" charset="0"/>
              </a:rPr>
              <a:t>Diverging Colors – Heat Map Illustrating Average Temperature for Indianapolis by TS.</a:t>
            </a:r>
            <a:endParaRPr lang="en-US" sz="3200" b="1" dirty="0"/>
          </a:p>
        </p:txBody>
      </p:sp>
      <p:pic>
        <p:nvPicPr>
          <p:cNvPr id="5" name="Content Placeholder 4">
            <a:extLst>
              <a:ext uri="{FF2B5EF4-FFF2-40B4-BE49-F238E27FC236}">
                <a16:creationId xmlns:a16="http://schemas.microsoft.com/office/drawing/2014/main" id="{FBCB4B9D-E53C-54D4-643A-114C310A8FFC}"/>
              </a:ext>
            </a:extLst>
          </p:cNvPr>
          <p:cNvPicPr>
            <a:picLocks noGrp="1" noChangeAspect="1"/>
          </p:cNvPicPr>
          <p:nvPr>
            <p:ph idx="1"/>
          </p:nvPr>
        </p:nvPicPr>
        <p:blipFill>
          <a:blip r:embed="rId2"/>
          <a:stretch>
            <a:fillRect/>
          </a:stretch>
        </p:blipFill>
        <p:spPr>
          <a:xfrm>
            <a:off x="1453019" y="1313954"/>
            <a:ext cx="9169052" cy="4990871"/>
          </a:xfrm>
          <a:ln w="9525">
            <a:solidFill>
              <a:schemeClr val="tx1"/>
            </a:solidFill>
          </a:ln>
        </p:spPr>
      </p:pic>
    </p:spTree>
    <p:extLst>
      <p:ext uri="{BB962C8B-B14F-4D97-AF65-F5344CB8AC3E}">
        <p14:creationId xmlns:p14="http://schemas.microsoft.com/office/powerpoint/2010/main" val="211580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60B8-7D81-2148-3CDB-2266617661F8}"/>
              </a:ext>
            </a:extLst>
          </p:cNvPr>
          <p:cNvSpPr>
            <a:spLocks noGrp="1"/>
          </p:cNvSpPr>
          <p:nvPr>
            <p:ph type="title"/>
          </p:nvPr>
        </p:nvSpPr>
        <p:spPr>
          <a:xfrm>
            <a:off x="285135" y="530943"/>
            <a:ext cx="11749549" cy="1042220"/>
          </a:xfrm>
        </p:spPr>
        <p:txBody>
          <a:bodyPr>
            <a:noAutofit/>
          </a:bodyPr>
          <a:lstStyle/>
          <a:p>
            <a:pPr algn="ctr"/>
            <a:r>
              <a:rPr lang="en-US" sz="3600" b="1" dirty="0"/>
              <a:t>Part 2 – Choropleth Map of poverty rate and percentage of “low access” kids in the US</a:t>
            </a:r>
          </a:p>
        </p:txBody>
      </p:sp>
      <p:pic>
        <p:nvPicPr>
          <p:cNvPr id="5" name="Content Placeholder 4">
            <a:extLst>
              <a:ext uri="{FF2B5EF4-FFF2-40B4-BE49-F238E27FC236}">
                <a16:creationId xmlns:a16="http://schemas.microsoft.com/office/drawing/2014/main" id="{D7744397-058E-896C-8558-7024F30E816B}"/>
              </a:ext>
            </a:extLst>
          </p:cNvPr>
          <p:cNvPicPr>
            <a:picLocks noGrp="1" noChangeAspect="1"/>
          </p:cNvPicPr>
          <p:nvPr>
            <p:ph idx="1"/>
          </p:nvPr>
        </p:nvPicPr>
        <p:blipFill>
          <a:blip r:embed="rId2"/>
          <a:stretch>
            <a:fillRect/>
          </a:stretch>
        </p:blipFill>
        <p:spPr>
          <a:xfrm>
            <a:off x="1097280" y="1928629"/>
            <a:ext cx="6106568" cy="4118210"/>
          </a:xfrm>
        </p:spPr>
      </p:pic>
      <p:sp>
        <p:nvSpPr>
          <p:cNvPr id="7" name="TextBox 6">
            <a:extLst>
              <a:ext uri="{FF2B5EF4-FFF2-40B4-BE49-F238E27FC236}">
                <a16:creationId xmlns:a16="http://schemas.microsoft.com/office/drawing/2014/main" id="{216E14B2-03BA-CF51-27BA-8CDF804531E6}"/>
              </a:ext>
            </a:extLst>
          </p:cNvPr>
          <p:cNvSpPr txBox="1"/>
          <p:nvPr/>
        </p:nvSpPr>
        <p:spPr>
          <a:xfrm>
            <a:off x="7629832" y="2027903"/>
            <a:ext cx="3378364" cy="3139321"/>
          </a:xfrm>
          <a:prstGeom prst="rect">
            <a:avLst/>
          </a:prstGeom>
          <a:noFill/>
        </p:spPr>
        <p:txBody>
          <a:bodyPr wrap="square" rtlCol="0">
            <a:spAutoFit/>
          </a:bodyPr>
          <a:lstStyle/>
          <a:p>
            <a:r>
              <a:rPr lang="en-US" b="1" dirty="0"/>
              <a:t>Goal</a:t>
            </a:r>
            <a:r>
              <a:rPr lang="en-US" dirty="0"/>
              <a:t>: Choropleth map showing the poverty rate and percentage of “low access” kids across the US.</a:t>
            </a:r>
          </a:p>
          <a:p>
            <a:endParaRPr lang="en-US" dirty="0"/>
          </a:p>
          <a:p>
            <a:r>
              <a:rPr lang="en-US" b="1" dirty="0"/>
              <a:t>Chart type: </a:t>
            </a:r>
            <a:r>
              <a:rPr lang="en-US" dirty="0"/>
              <a:t>Choropleth Map.</a:t>
            </a:r>
          </a:p>
          <a:p>
            <a:endParaRPr lang="en-US" dirty="0"/>
          </a:p>
          <a:p>
            <a:r>
              <a:rPr lang="en-US" b="1" dirty="0"/>
              <a:t>Hyperlink: </a:t>
            </a:r>
            <a:r>
              <a:rPr lang="en-US" dirty="0">
                <a:hlinkClick r:id="rId3"/>
              </a:rPr>
              <a:t>Bivariate Choropleth with Continuous Color Scales and Tooltips for US Food Access Data / Kelly Ervin Mills | Observable</a:t>
            </a:r>
            <a:r>
              <a:rPr lang="en-US" dirty="0"/>
              <a:t>.</a:t>
            </a:r>
          </a:p>
          <a:p>
            <a:endParaRPr lang="en-US" dirty="0"/>
          </a:p>
        </p:txBody>
      </p:sp>
    </p:spTree>
    <p:extLst>
      <p:ext uri="{BB962C8B-B14F-4D97-AF65-F5344CB8AC3E}">
        <p14:creationId xmlns:p14="http://schemas.microsoft.com/office/powerpoint/2010/main" val="29253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2480-846C-77B0-28AA-184BE42379A3}"/>
              </a:ext>
            </a:extLst>
          </p:cNvPr>
          <p:cNvSpPr>
            <a:spLocks noGrp="1"/>
          </p:cNvSpPr>
          <p:nvPr>
            <p:ph type="title"/>
          </p:nvPr>
        </p:nvSpPr>
        <p:spPr>
          <a:xfrm>
            <a:off x="1097280" y="988906"/>
            <a:ext cx="10058400" cy="748454"/>
          </a:xfrm>
        </p:spPr>
        <p:txBody>
          <a:bodyPr>
            <a:normAutofit/>
          </a:bodyPr>
          <a:lstStyle/>
          <a:p>
            <a:r>
              <a:rPr lang="en-US" sz="4000" b="1" dirty="0"/>
              <a:t>Part 2: Choropleth Map - Analysis and Critiques</a:t>
            </a:r>
          </a:p>
        </p:txBody>
      </p:sp>
      <p:sp>
        <p:nvSpPr>
          <p:cNvPr id="3" name="Content Placeholder 2">
            <a:extLst>
              <a:ext uri="{FF2B5EF4-FFF2-40B4-BE49-F238E27FC236}">
                <a16:creationId xmlns:a16="http://schemas.microsoft.com/office/drawing/2014/main" id="{3A7ED5C9-45CB-A8BD-C8E5-BA4E1AD15EF6}"/>
              </a:ext>
            </a:extLst>
          </p:cNvPr>
          <p:cNvSpPr>
            <a:spLocks noGrp="1"/>
          </p:cNvSpPr>
          <p:nvPr>
            <p:ph idx="1"/>
          </p:nvPr>
        </p:nvSpPr>
        <p:spPr/>
        <p:txBody>
          <a:bodyPr/>
          <a:lstStyle/>
          <a:p>
            <a:r>
              <a:rPr lang="en-US" b="1" dirty="0"/>
              <a:t>Attributes of color:</a:t>
            </a:r>
            <a:r>
              <a:rPr lang="en-US" dirty="0"/>
              <a:t> Saturation.</a:t>
            </a:r>
          </a:p>
          <a:p>
            <a:r>
              <a:rPr lang="en-US" b="1" dirty="0"/>
              <a:t>Color Scheme: </a:t>
            </a:r>
            <a:r>
              <a:rPr lang="en-US" dirty="0"/>
              <a:t>Sequential color scheme</a:t>
            </a:r>
          </a:p>
          <a:p>
            <a:r>
              <a:rPr lang="en-US" b="1" dirty="0"/>
              <a:t>Custom Color using the HSL Color System: </a:t>
            </a:r>
            <a:r>
              <a:rPr lang="en-US" dirty="0"/>
              <a:t>Multiple colors were used in this chart; it is difficult to provide the HSL color system used.</a:t>
            </a:r>
          </a:p>
          <a:p>
            <a:r>
              <a:rPr lang="en-US" b="1" dirty="0"/>
              <a:t>Common Mistakes in the Use of Color: </a:t>
            </a:r>
            <a:r>
              <a:rPr lang="en-US" kern="100" dirty="0">
                <a:effectLst/>
                <a:ea typeface="Aptos" panose="020B0004020202020204" pitchFamily="34" charset="0"/>
                <a:cs typeface="Times New Roman" panose="02020603050405020304" pitchFamily="18" charset="0"/>
              </a:rPr>
              <a:t>The main error in this choropleth map is the </a:t>
            </a:r>
            <a:r>
              <a:rPr lang="en-US" b="1" kern="100" dirty="0">
                <a:effectLst/>
                <a:ea typeface="Aptos" panose="020B0004020202020204" pitchFamily="34" charset="0"/>
                <a:cs typeface="Times New Roman" panose="02020603050405020304" pitchFamily="18" charset="0"/>
              </a:rPr>
              <a:t>excessive use of color</a:t>
            </a:r>
            <a:r>
              <a:rPr lang="en-US" kern="100" dirty="0">
                <a:effectLst/>
                <a:ea typeface="Aptos" panose="020B0004020202020204" pitchFamily="34" charset="0"/>
                <a:cs typeface="Times New Roman" panose="02020603050405020304" pitchFamily="18" charset="0"/>
              </a:rPr>
              <a:t>. Typically, a choropleth map employs a sequential gradient of a single hue. This map attempts to represent multiple rates (poverty and the percentage of low-access children) by using purple for the percentage of low-access children and blue for the poverty rate. Consequently, the map becomes challenging to comprehend and interpret effectively.</a:t>
            </a:r>
          </a:p>
          <a:p>
            <a:endParaRPr lang="en-US" dirty="0"/>
          </a:p>
        </p:txBody>
      </p:sp>
    </p:spTree>
    <p:extLst>
      <p:ext uri="{BB962C8B-B14F-4D97-AF65-F5344CB8AC3E}">
        <p14:creationId xmlns:p14="http://schemas.microsoft.com/office/powerpoint/2010/main" val="62740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52D5-5FB8-0955-27E3-FD5CB7331BC8}"/>
              </a:ext>
            </a:extLst>
          </p:cNvPr>
          <p:cNvSpPr>
            <a:spLocks noGrp="1"/>
          </p:cNvSpPr>
          <p:nvPr>
            <p:ph type="title"/>
          </p:nvPr>
        </p:nvSpPr>
        <p:spPr>
          <a:xfrm>
            <a:off x="1097280" y="1081548"/>
            <a:ext cx="10058400" cy="655812"/>
          </a:xfrm>
        </p:spPr>
        <p:txBody>
          <a:bodyPr>
            <a:normAutofit/>
          </a:bodyPr>
          <a:lstStyle/>
          <a:p>
            <a:r>
              <a:rPr lang="en-US" sz="4000" b="1" dirty="0"/>
              <a:t>Part 2: Choropleth map - Proposed Corrections</a:t>
            </a:r>
          </a:p>
        </p:txBody>
      </p:sp>
      <p:sp>
        <p:nvSpPr>
          <p:cNvPr id="3" name="Content Placeholder 2">
            <a:extLst>
              <a:ext uri="{FF2B5EF4-FFF2-40B4-BE49-F238E27FC236}">
                <a16:creationId xmlns:a16="http://schemas.microsoft.com/office/drawing/2014/main" id="{4FAC75C0-C5B6-12A9-A265-1A9C2F1D2D81}"/>
              </a:ext>
            </a:extLst>
          </p:cNvPr>
          <p:cNvSpPr>
            <a:spLocks noGrp="1"/>
          </p:cNvSpPr>
          <p:nvPr>
            <p:ph idx="1"/>
          </p:nvPr>
        </p:nvSpPr>
        <p:spPr>
          <a:xfrm>
            <a:off x="1097279" y="1845734"/>
            <a:ext cx="10319657" cy="4346060"/>
          </a:xfrm>
        </p:spPr>
        <p:txBody>
          <a:bodyPr>
            <a:normAutofit lnSpcReduction="10000"/>
          </a:bodyPr>
          <a:lstStyle/>
          <a:p>
            <a:pPr marL="0" marR="0">
              <a:lnSpc>
                <a:spcPct val="115000"/>
              </a:lnSpc>
              <a:spcAft>
                <a:spcPts val="800"/>
              </a:spcAft>
            </a:pPr>
            <a:r>
              <a:rPr lang="en-US" kern="100" dirty="0">
                <a:effectLst/>
                <a:ea typeface="Aptos" panose="020B0004020202020204" pitchFamily="34" charset="0"/>
                <a:cs typeface="Times New Roman" panose="02020603050405020304" pitchFamily="18" charset="0"/>
              </a:rPr>
              <a:t>Here are some recommendations to enhance the map:</a:t>
            </a:r>
          </a:p>
          <a:p>
            <a:pPr marL="342900" marR="0" lvl="0" indent="-342900">
              <a:lnSpc>
                <a:spcPct val="115000"/>
              </a:lnSpc>
              <a:buFont typeface="Symbol" panose="05050102010706020507" pitchFamily="18" charset="2"/>
              <a:buChar char=""/>
            </a:pPr>
            <a:r>
              <a:rPr lang="en-US" b="1" kern="100" dirty="0">
                <a:effectLst/>
                <a:ea typeface="Aptos" panose="020B0004020202020204" pitchFamily="34" charset="0"/>
                <a:cs typeface="Times New Roman" panose="02020603050405020304" pitchFamily="18" charset="0"/>
              </a:rPr>
              <a:t>Create separate Choropleth maps:</a:t>
            </a:r>
            <a:r>
              <a:rPr lang="en-US" kern="100" dirty="0">
                <a:effectLst/>
                <a:ea typeface="Aptos" panose="020B0004020202020204" pitchFamily="34" charset="0"/>
                <a:cs typeface="Times New Roman" panose="02020603050405020304" pitchFamily="18" charset="0"/>
              </a:rPr>
              <a:t> Develop two individual maps—one for the poverty rate and another for the percentage of low access children. Utilizing a distinct sequential color for each map will improve readability.</a:t>
            </a:r>
          </a:p>
          <a:p>
            <a:pPr marL="342900" marR="0" lvl="0" indent="-342900">
              <a:lnSpc>
                <a:spcPct val="115000"/>
              </a:lnSpc>
              <a:buFont typeface="Symbol" panose="05050102010706020507" pitchFamily="18" charset="2"/>
              <a:buChar char=""/>
            </a:pPr>
            <a:r>
              <a:rPr lang="en-US" b="1" kern="100" dirty="0">
                <a:effectLst/>
                <a:ea typeface="Aptos" panose="020B0004020202020204" pitchFamily="34" charset="0"/>
                <a:cs typeface="Times New Roman" panose="02020603050405020304" pitchFamily="18" charset="0"/>
              </a:rPr>
              <a:t>Utilize state averages and consistent color gradients:</a:t>
            </a:r>
            <a:r>
              <a:rPr lang="en-US" kern="100" dirty="0">
                <a:effectLst/>
                <a:ea typeface="Aptos" panose="020B0004020202020204" pitchFamily="34" charset="0"/>
                <a:cs typeface="Times New Roman" panose="02020603050405020304" pitchFamily="18" charset="0"/>
              </a:rPr>
              <a:t> Construct the maps based on the average values for each state and apply a single color gradient per state. Given that the data encompasses the entire United States, this approach will facilitate a clearer comparison of poverty rates between states.</a:t>
            </a:r>
          </a:p>
          <a:p>
            <a:pPr marL="342900" marR="0" lvl="0" indent="-342900">
              <a:lnSpc>
                <a:spcPct val="115000"/>
              </a:lnSpc>
              <a:spcAft>
                <a:spcPts val="800"/>
              </a:spcAft>
              <a:buFont typeface="Symbol" panose="05050102010706020507" pitchFamily="18" charset="2"/>
              <a:buChar char=""/>
            </a:pPr>
            <a:r>
              <a:rPr lang="en-US" b="1" kern="100" dirty="0">
                <a:effectLst/>
                <a:ea typeface="Aptos" panose="020B0004020202020204" pitchFamily="34" charset="0"/>
                <a:cs typeface="Times New Roman" panose="02020603050405020304" pitchFamily="18" charset="0"/>
              </a:rPr>
              <a:t>Include a comprehensive legend:</a:t>
            </a:r>
            <a:r>
              <a:rPr lang="en-US" kern="100" dirty="0">
                <a:effectLst/>
                <a:ea typeface="Aptos" panose="020B0004020202020204" pitchFamily="34" charset="0"/>
                <a:cs typeface="Times New Roman" panose="02020603050405020304" pitchFamily="18" charset="0"/>
              </a:rPr>
              <a:t> Incorporate a legend indicating the maximum and minimum rates. This addition will enable the audience to accurately interpret the rate in relation to the color gradient applied to each state or section of the map being analyzed.</a:t>
            </a:r>
          </a:p>
        </p:txBody>
      </p:sp>
    </p:spTree>
    <p:extLst>
      <p:ext uri="{BB962C8B-B14F-4D97-AF65-F5344CB8AC3E}">
        <p14:creationId xmlns:p14="http://schemas.microsoft.com/office/powerpoint/2010/main" val="2727213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E0BA9-DEB9-5FEB-F75D-3697EFBB9D12}"/>
              </a:ext>
            </a:extLst>
          </p:cNvPr>
          <p:cNvSpPr>
            <a:spLocks noGrp="1"/>
          </p:cNvSpPr>
          <p:nvPr>
            <p:ph type="title"/>
          </p:nvPr>
        </p:nvSpPr>
        <p:spPr>
          <a:xfrm>
            <a:off x="1282773" y="886370"/>
            <a:ext cx="10058400" cy="702303"/>
          </a:xfrm>
        </p:spPr>
        <p:txBody>
          <a:bodyPr>
            <a:noAutofit/>
          </a:bodyPr>
          <a:lstStyle/>
          <a:p>
            <a:r>
              <a:rPr lang="en-US" sz="4000" b="1" dirty="0"/>
              <a:t>Part 2 – Bar Chart of Students’ favorite candies</a:t>
            </a:r>
          </a:p>
        </p:txBody>
      </p:sp>
      <p:pic>
        <p:nvPicPr>
          <p:cNvPr id="5" name="Content Placeholder 4">
            <a:extLst>
              <a:ext uri="{FF2B5EF4-FFF2-40B4-BE49-F238E27FC236}">
                <a16:creationId xmlns:a16="http://schemas.microsoft.com/office/drawing/2014/main" id="{409BF956-1DFF-6682-89F3-6E355F479EC0}"/>
              </a:ext>
            </a:extLst>
          </p:cNvPr>
          <p:cNvPicPr>
            <a:picLocks noGrp="1" noChangeAspect="1"/>
          </p:cNvPicPr>
          <p:nvPr>
            <p:ph idx="1"/>
          </p:nvPr>
        </p:nvPicPr>
        <p:blipFill>
          <a:blip r:embed="rId2"/>
          <a:stretch>
            <a:fillRect/>
          </a:stretch>
        </p:blipFill>
        <p:spPr>
          <a:xfrm>
            <a:off x="1199534" y="1773306"/>
            <a:ext cx="4597051" cy="4521844"/>
          </a:xfrm>
        </p:spPr>
      </p:pic>
      <p:sp>
        <p:nvSpPr>
          <p:cNvPr id="6" name="TextBox 5">
            <a:extLst>
              <a:ext uri="{FF2B5EF4-FFF2-40B4-BE49-F238E27FC236}">
                <a16:creationId xmlns:a16="http://schemas.microsoft.com/office/drawing/2014/main" id="{5CD34AEE-1EB9-C48D-A963-9D5C6FD1CC9F}"/>
              </a:ext>
            </a:extLst>
          </p:cNvPr>
          <p:cNvSpPr txBox="1"/>
          <p:nvPr/>
        </p:nvSpPr>
        <p:spPr>
          <a:xfrm>
            <a:off x="6744121" y="1804252"/>
            <a:ext cx="4597052" cy="2308324"/>
          </a:xfrm>
          <a:prstGeom prst="rect">
            <a:avLst/>
          </a:prstGeom>
          <a:noFill/>
        </p:spPr>
        <p:txBody>
          <a:bodyPr wrap="square" rtlCol="0">
            <a:spAutoFit/>
          </a:bodyPr>
          <a:lstStyle/>
          <a:p>
            <a:r>
              <a:rPr lang="en-US" b="1" dirty="0"/>
              <a:t>Goal: </a:t>
            </a:r>
            <a:r>
              <a:rPr lang="en-US" dirty="0"/>
              <a:t>Bar chart showing students’ favorite Halloween candies</a:t>
            </a:r>
          </a:p>
          <a:p>
            <a:endParaRPr lang="en-US" dirty="0"/>
          </a:p>
          <a:p>
            <a:r>
              <a:rPr lang="en-US" b="1" dirty="0"/>
              <a:t>Chart type: </a:t>
            </a:r>
            <a:r>
              <a:rPr lang="en-US" dirty="0"/>
              <a:t>Bar Chart</a:t>
            </a:r>
          </a:p>
          <a:p>
            <a:endParaRPr lang="en-US" dirty="0"/>
          </a:p>
          <a:p>
            <a:r>
              <a:rPr lang="en-US" b="1" dirty="0"/>
              <a:t>Hyperlink: </a:t>
            </a:r>
            <a:r>
              <a:rPr lang="en-US" dirty="0">
                <a:hlinkClick r:id="rId3"/>
              </a:rPr>
              <a:t>Kit Kat Win in HHS Broadcaster Survey of Students’ Favorite Halloween Candies – The Broadcaster</a:t>
            </a:r>
            <a:endParaRPr lang="en-US" dirty="0"/>
          </a:p>
        </p:txBody>
      </p:sp>
    </p:spTree>
    <p:extLst>
      <p:ext uri="{BB962C8B-B14F-4D97-AF65-F5344CB8AC3E}">
        <p14:creationId xmlns:p14="http://schemas.microsoft.com/office/powerpoint/2010/main" val="3482813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D871-51E0-9343-1C4D-3E521F45417D}"/>
              </a:ext>
            </a:extLst>
          </p:cNvPr>
          <p:cNvSpPr>
            <a:spLocks noGrp="1"/>
          </p:cNvSpPr>
          <p:nvPr>
            <p:ph type="title"/>
          </p:nvPr>
        </p:nvSpPr>
        <p:spPr>
          <a:xfrm>
            <a:off x="1097280" y="1062446"/>
            <a:ext cx="10058400" cy="674914"/>
          </a:xfrm>
        </p:spPr>
        <p:txBody>
          <a:bodyPr>
            <a:normAutofit/>
          </a:bodyPr>
          <a:lstStyle/>
          <a:p>
            <a:r>
              <a:rPr lang="en-US" sz="4000" b="1" dirty="0"/>
              <a:t>Part 2: Bar Chart – Analysis and Critiques.</a:t>
            </a:r>
          </a:p>
        </p:txBody>
      </p:sp>
      <p:sp>
        <p:nvSpPr>
          <p:cNvPr id="3" name="Content Placeholder 2">
            <a:extLst>
              <a:ext uri="{FF2B5EF4-FFF2-40B4-BE49-F238E27FC236}">
                <a16:creationId xmlns:a16="http://schemas.microsoft.com/office/drawing/2014/main" id="{65599987-88F6-EC4D-07A3-1B87F8022E04}"/>
              </a:ext>
            </a:extLst>
          </p:cNvPr>
          <p:cNvSpPr>
            <a:spLocks noGrp="1"/>
          </p:cNvSpPr>
          <p:nvPr>
            <p:ph idx="1"/>
          </p:nvPr>
        </p:nvSpPr>
        <p:spPr/>
        <p:txBody>
          <a:bodyPr/>
          <a:lstStyle/>
          <a:p>
            <a:r>
              <a:rPr lang="en-US" b="1" dirty="0"/>
              <a:t>Attributes of color: </a:t>
            </a:r>
            <a:r>
              <a:rPr lang="en-US" dirty="0"/>
              <a:t>Hue</a:t>
            </a:r>
          </a:p>
          <a:p>
            <a:r>
              <a:rPr lang="en-US" b="1" dirty="0"/>
              <a:t>Color Scheme:</a:t>
            </a:r>
            <a:r>
              <a:rPr lang="en-US" dirty="0"/>
              <a:t> Categorical color scheme</a:t>
            </a:r>
          </a:p>
          <a:p>
            <a:r>
              <a:rPr lang="en-US" b="1" dirty="0"/>
              <a:t>Custom Color using the HSL Color System: </a:t>
            </a:r>
            <a:r>
              <a:rPr lang="en-US" dirty="0"/>
              <a:t>Multiple colors were used in this chart; it is difficult to provide the HSL color system used.</a:t>
            </a:r>
          </a:p>
          <a:p>
            <a:pPr marL="0" marR="0">
              <a:lnSpc>
                <a:spcPct val="115000"/>
              </a:lnSpc>
              <a:spcAft>
                <a:spcPts val="800"/>
              </a:spcAft>
            </a:pPr>
            <a:r>
              <a:rPr lang="en-US" b="1" dirty="0"/>
              <a:t>Common Mistakes in the Use of Color: </a:t>
            </a:r>
            <a:r>
              <a:rPr lang="en-US" kern="100" dirty="0">
                <a:effectLst/>
                <a:ea typeface="Aptos" panose="020B0004020202020204" pitchFamily="34" charset="0"/>
                <a:cs typeface="Times New Roman" panose="02020603050405020304" pitchFamily="18" charset="0"/>
              </a:rPr>
              <a:t>The primary issue with this chart is the </a:t>
            </a:r>
            <a:r>
              <a:rPr lang="en-US" b="1" kern="100" dirty="0">
                <a:effectLst/>
                <a:ea typeface="Aptos" panose="020B0004020202020204" pitchFamily="34" charset="0"/>
                <a:cs typeface="Times New Roman" panose="02020603050405020304" pitchFamily="18" charset="0"/>
              </a:rPr>
              <a:t>unnecessary use of colors</a:t>
            </a:r>
            <a:r>
              <a:rPr lang="en-US" kern="100" dirty="0">
                <a:effectLst/>
                <a:ea typeface="Aptos" panose="020B0004020202020204" pitchFamily="34" charset="0"/>
                <a:cs typeface="Times New Roman" panose="02020603050405020304" pitchFamily="18" charset="0"/>
              </a:rPr>
              <a:t>. Employing a single color for all the bars would enhance clarity. The current use of multiple colors is distracting and lacks consistency, as there are several bars per color with no apparent commonality. This may lead the audience to inadvertently attempt to group the colors, detracting from the overall message of the chart and increasing cognitive load.</a:t>
            </a:r>
          </a:p>
          <a:p>
            <a:endParaRPr lang="en-US" dirty="0"/>
          </a:p>
        </p:txBody>
      </p:sp>
    </p:spTree>
    <p:extLst>
      <p:ext uri="{BB962C8B-B14F-4D97-AF65-F5344CB8AC3E}">
        <p14:creationId xmlns:p14="http://schemas.microsoft.com/office/powerpoint/2010/main" val="3458437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8B555-CB07-F7B7-BAFA-680DF61F71DD}"/>
              </a:ext>
            </a:extLst>
          </p:cNvPr>
          <p:cNvSpPr>
            <a:spLocks noGrp="1"/>
          </p:cNvSpPr>
          <p:nvPr>
            <p:ph type="title"/>
          </p:nvPr>
        </p:nvSpPr>
        <p:spPr>
          <a:xfrm>
            <a:off x="1097280" y="988906"/>
            <a:ext cx="10058400" cy="748454"/>
          </a:xfrm>
        </p:spPr>
        <p:txBody>
          <a:bodyPr>
            <a:normAutofit/>
          </a:bodyPr>
          <a:lstStyle/>
          <a:p>
            <a:r>
              <a:rPr lang="en-US" sz="4400" b="1" dirty="0"/>
              <a:t>Part 2: Bar Chart – Proposed Correction</a:t>
            </a:r>
          </a:p>
        </p:txBody>
      </p:sp>
      <p:sp>
        <p:nvSpPr>
          <p:cNvPr id="3" name="Content Placeholder 2">
            <a:extLst>
              <a:ext uri="{FF2B5EF4-FFF2-40B4-BE49-F238E27FC236}">
                <a16:creationId xmlns:a16="http://schemas.microsoft.com/office/drawing/2014/main" id="{7B6F311B-BA70-75BA-35CC-FB575F1B5D60}"/>
              </a:ext>
            </a:extLst>
          </p:cNvPr>
          <p:cNvSpPr>
            <a:spLocks noGrp="1"/>
          </p:cNvSpPr>
          <p:nvPr>
            <p:ph idx="1"/>
          </p:nvPr>
        </p:nvSpPr>
        <p:spPr/>
        <p:txBody>
          <a:bodyPr/>
          <a:lstStyle/>
          <a:p>
            <a:pPr marL="0" marR="0" indent="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Below is my suggested revision for the bar chart:</a:t>
            </a:r>
          </a:p>
          <a:p>
            <a:pPr marL="0" marR="0" indent="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Utilize a single color for the bars representing the various candies in the bar chart. As indicated by the textbook, color should be utilized only when it conveys information that no other aspect of the chart can communicate to the audience. The use of multiple colors in this context is unnecessary and does not contribute to the message being conveyed. The length of the bars alone suffices to effectively communicate the intended message; therefore, all bars should be uniform in color.</a:t>
            </a:r>
          </a:p>
        </p:txBody>
      </p:sp>
    </p:spTree>
    <p:extLst>
      <p:ext uri="{BB962C8B-B14F-4D97-AF65-F5344CB8AC3E}">
        <p14:creationId xmlns:p14="http://schemas.microsoft.com/office/powerpoint/2010/main" val="104981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2FC7-7107-1050-C001-E76094934916}"/>
              </a:ext>
            </a:extLst>
          </p:cNvPr>
          <p:cNvSpPr>
            <a:spLocks noGrp="1"/>
          </p:cNvSpPr>
          <p:nvPr>
            <p:ph type="title"/>
          </p:nvPr>
        </p:nvSpPr>
        <p:spPr>
          <a:xfrm>
            <a:off x="1036320" y="725903"/>
            <a:ext cx="10058400" cy="702303"/>
          </a:xfrm>
        </p:spPr>
        <p:txBody>
          <a:bodyPr>
            <a:normAutofit fontScale="90000"/>
          </a:bodyPr>
          <a:lstStyle/>
          <a:p>
            <a:r>
              <a:rPr lang="en-US" b="1" dirty="0"/>
              <a:t>Part 3 - Reflection</a:t>
            </a:r>
          </a:p>
        </p:txBody>
      </p:sp>
      <p:sp>
        <p:nvSpPr>
          <p:cNvPr id="3" name="Content Placeholder 2">
            <a:extLst>
              <a:ext uri="{FF2B5EF4-FFF2-40B4-BE49-F238E27FC236}">
                <a16:creationId xmlns:a16="http://schemas.microsoft.com/office/drawing/2014/main" id="{82D65246-C8FD-2396-4BA7-0DE8B4DAEFFA}"/>
              </a:ext>
            </a:extLst>
          </p:cNvPr>
          <p:cNvSpPr>
            <a:spLocks noGrp="1"/>
          </p:cNvSpPr>
          <p:nvPr>
            <p:ph idx="1"/>
          </p:nvPr>
        </p:nvSpPr>
        <p:spPr>
          <a:xfrm>
            <a:off x="1097280" y="1489166"/>
            <a:ext cx="10772502" cy="4868091"/>
          </a:xfrm>
        </p:spPr>
        <p:txBody>
          <a:bodyPr>
            <a:normAutofit fontScale="25000" lnSpcReduction="20000"/>
          </a:bodyPr>
          <a:lstStyle/>
          <a:p>
            <a:pPr marL="0" marR="0" indent="0">
              <a:lnSpc>
                <a:spcPct val="115000"/>
              </a:lnSpc>
              <a:spcAft>
                <a:spcPts val="800"/>
              </a:spcAft>
              <a:buNone/>
            </a:pPr>
            <a:r>
              <a:rPr lang="en-US" sz="6400" b="1" kern="100" dirty="0">
                <a:effectLst/>
                <a:ea typeface="Aptos" panose="020B0004020202020204" pitchFamily="34" charset="0"/>
                <a:cs typeface="Times New Roman" panose="02020603050405020304" pitchFamily="18" charset="0"/>
              </a:rPr>
              <a:t>Summary of Key Learnings</a:t>
            </a:r>
          </a:p>
          <a:p>
            <a:pPr marL="0" marR="0" indent="0">
              <a:lnSpc>
                <a:spcPct val="115000"/>
              </a:lnSpc>
              <a:spcAft>
                <a:spcPts val="800"/>
              </a:spcAft>
              <a:buNone/>
            </a:pPr>
            <a:r>
              <a:rPr lang="en-US" sz="5600" kern="100" dirty="0">
                <a:effectLst/>
                <a:ea typeface="Aptos" panose="020B0004020202020204" pitchFamily="34" charset="0"/>
                <a:cs typeface="Times New Roman" panose="02020603050405020304" pitchFamily="18" charset="0"/>
              </a:rPr>
              <a:t>Chapter 4 highlights the strategic use of color in charts and maps to improve communication, evoke emotions, and enhance readability. Key concepts include:</a:t>
            </a:r>
          </a:p>
          <a:p>
            <a:pPr marR="0">
              <a:lnSpc>
                <a:spcPct val="115000"/>
              </a:lnSpc>
              <a:spcAft>
                <a:spcPts val="800"/>
              </a:spcAft>
              <a:buFont typeface="Arial" panose="020B0604020202020204" pitchFamily="34" charset="0"/>
              <a:buChar char="•"/>
            </a:pPr>
            <a:r>
              <a:rPr lang="en-US" sz="5600" b="1" kern="100" dirty="0">
                <a:effectLst/>
                <a:ea typeface="Aptos" panose="020B0004020202020204" pitchFamily="34" charset="0"/>
                <a:cs typeface="Times New Roman" panose="02020603050405020304" pitchFamily="18" charset="0"/>
              </a:rPr>
              <a:t>Attributes of Color: </a:t>
            </a:r>
            <a:r>
              <a:rPr lang="en-US" sz="5600" kern="100" dirty="0">
                <a:effectLst/>
                <a:ea typeface="Aptos" panose="020B0004020202020204" pitchFamily="34" charset="0"/>
                <a:cs typeface="Times New Roman" panose="02020603050405020304" pitchFamily="18" charset="0"/>
              </a:rPr>
              <a:t>This encompasses Hue, Saturation, and Luminance. The three primary hues are frequently combined to generate other hues known as secondary hues, which can subsequently be combined to produce tertiary hues. Saturation refers to the intensity or purity of a color, while luminance refers to the degree of whiteness or blackness of a color, indicating its brightness.</a:t>
            </a:r>
          </a:p>
          <a:p>
            <a:pPr marR="0">
              <a:lnSpc>
                <a:spcPct val="115000"/>
              </a:lnSpc>
              <a:spcAft>
                <a:spcPts val="800"/>
              </a:spcAft>
              <a:buFont typeface="Arial" panose="020B0604020202020204" pitchFamily="34" charset="0"/>
              <a:buChar char="•"/>
            </a:pPr>
            <a:r>
              <a:rPr lang="en-US" sz="5600" b="1" kern="100" dirty="0">
                <a:effectLst/>
                <a:ea typeface="Aptos" panose="020B0004020202020204" pitchFamily="34" charset="0"/>
                <a:cs typeface="Times New Roman" panose="02020603050405020304" pitchFamily="18" charset="0"/>
              </a:rPr>
              <a:t>Color psychology and symbolism: </a:t>
            </a:r>
            <a:r>
              <a:rPr lang="en-US" sz="5600" kern="100" dirty="0">
                <a:effectLst/>
                <a:ea typeface="Aptos" panose="020B0004020202020204" pitchFamily="34" charset="0"/>
                <a:cs typeface="Times New Roman" panose="02020603050405020304" pitchFamily="18" charset="0"/>
              </a:rPr>
              <a:t>involve studying the relationship between colors and human behavior. Understanding this can help determine when to use warm or cool hues depending on the audience and the message being conveyed. Color symbolism refers to the cultural meanings of color for certain demographics. This is an important factor to consider when creating charts to account for the audience's perspective.</a:t>
            </a:r>
          </a:p>
          <a:p>
            <a:pPr marR="0">
              <a:lnSpc>
                <a:spcPct val="115000"/>
              </a:lnSpc>
              <a:spcAft>
                <a:spcPts val="800"/>
              </a:spcAft>
              <a:buFont typeface="Arial" panose="020B0604020202020204" pitchFamily="34" charset="0"/>
              <a:buChar char="•"/>
            </a:pPr>
            <a:r>
              <a:rPr lang="en-US" sz="5600" b="1" kern="100" dirty="0">
                <a:effectLst/>
                <a:ea typeface="Aptos" panose="020B0004020202020204" pitchFamily="34" charset="0"/>
                <a:cs typeface="Times New Roman" panose="02020603050405020304" pitchFamily="18" charset="0"/>
              </a:rPr>
              <a:t>Color Schemes: </a:t>
            </a:r>
            <a:r>
              <a:rPr lang="en-US" sz="5600" kern="100" dirty="0">
                <a:effectLst/>
                <a:ea typeface="Aptos" panose="020B0004020202020204" pitchFamily="34" charset="0"/>
                <a:cs typeface="Times New Roman" panose="02020603050405020304" pitchFamily="18" charset="0"/>
              </a:rPr>
              <a:t>Include categorical, sequential, and diverging color schemes. These color schemes are used in visualization charts. Categorical color schemes are used in bar and column charts, sequential color schemes are used in choropleth maps to show gradient representation of a range of values, while diverging color schemes are used for heat maps to show the combination of two sequential colors with a shared end point.</a:t>
            </a:r>
          </a:p>
          <a:p>
            <a:pPr marR="0">
              <a:lnSpc>
                <a:spcPct val="115000"/>
              </a:lnSpc>
              <a:spcAft>
                <a:spcPts val="800"/>
              </a:spcAft>
              <a:buFont typeface="Arial" panose="020B0604020202020204" pitchFamily="34" charset="0"/>
              <a:buChar char="•"/>
            </a:pPr>
            <a:r>
              <a:rPr lang="en-US" sz="5600" b="1" kern="100" dirty="0">
                <a:effectLst/>
                <a:ea typeface="Aptos" panose="020B0004020202020204" pitchFamily="34" charset="0"/>
                <a:cs typeface="Times New Roman" panose="02020603050405020304" pitchFamily="18" charset="0"/>
              </a:rPr>
              <a:t>Creating Custom Colors with the HSL Color System: </a:t>
            </a:r>
            <a:r>
              <a:rPr lang="en-US" sz="5600" kern="100" dirty="0">
                <a:effectLst/>
                <a:ea typeface="Aptos" panose="020B0004020202020204" pitchFamily="34" charset="0"/>
                <a:cs typeface="Times New Roman" panose="02020603050405020304" pitchFamily="18" charset="0"/>
              </a:rPr>
              <a:t>We examined the methodology of generating custom colors by manipulating Hue, Saturation, and Luminance gradients to achieve desired color variations.</a:t>
            </a:r>
          </a:p>
          <a:p>
            <a:pPr marR="0">
              <a:lnSpc>
                <a:spcPct val="115000"/>
              </a:lnSpc>
              <a:spcAft>
                <a:spcPts val="800"/>
              </a:spcAft>
              <a:buFont typeface="Arial" panose="020B0604020202020204" pitchFamily="34" charset="0"/>
              <a:buChar char="•"/>
            </a:pPr>
            <a:r>
              <a:rPr lang="en-US" sz="5600" b="1" kern="100" dirty="0">
                <a:effectLst/>
                <a:ea typeface="Aptos" panose="020B0004020202020204" pitchFamily="34" charset="0"/>
                <a:cs typeface="Times New Roman" panose="02020603050405020304" pitchFamily="18" charset="0"/>
              </a:rPr>
              <a:t>Common mistakes in the use of color: </a:t>
            </a:r>
            <a:r>
              <a:rPr lang="en-US" sz="5600" kern="100" dirty="0">
                <a:effectLst/>
                <a:ea typeface="Aptos" panose="020B0004020202020204" pitchFamily="34" charset="0"/>
                <a:cs typeface="Times New Roman" panose="02020603050405020304" pitchFamily="18" charset="0"/>
              </a:rPr>
              <a:t>The application of color in visualization charts can often be misapplied. Frequent errors include, but are not limited to, the unnecessary use of color, excessive use of color, insufficient contrast, and failure to consider color blindness, among other issues.</a:t>
            </a:r>
          </a:p>
        </p:txBody>
      </p:sp>
    </p:spTree>
    <p:extLst>
      <p:ext uri="{BB962C8B-B14F-4D97-AF65-F5344CB8AC3E}">
        <p14:creationId xmlns:p14="http://schemas.microsoft.com/office/powerpoint/2010/main" val="424643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91A04-239B-7EC6-5403-25FBF4CB45AF}"/>
              </a:ext>
            </a:extLst>
          </p:cNvPr>
          <p:cNvSpPr>
            <a:spLocks noGrp="1"/>
          </p:cNvSpPr>
          <p:nvPr>
            <p:ph type="title"/>
          </p:nvPr>
        </p:nvSpPr>
        <p:spPr>
          <a:xfrm>
            <a:off x="1066800" y="637754"/>
            <a:ext cx="10058400" cy="702303"/>
          </a:xfrm>
        </p:spPr>
        <p:txBody>
          <a:bodyPr>
            <a:normAutofit fontScale="90000"/>
          </a:bodyPr>
          <a:lstStyle/>
          <a:p>
            <a:r>
              <a:rPr lang="en-US" b="1" dirty="0"/>
              <a:t>Part 3 - Reflection</a:t>
            </a:r>
          </a:p>
        </p:txBody>
      </p:sp>
      <p:sp>
        <p:nvSpPr>
          <p:cNvPr id="3" name="Content Placeholder 2">
            <a:extLst>
              <a:ext uri="{FF2B5EF4-FFF2-40B4-BE49-F238E27FC236}">
                <a16:creationId xmlns:a16="http://schemas.microsoft.com/office/drawing/2014/main" id="{F30E5367-75E6-6EF2-91D7-C4A9FB453D3D}"/>
              </a:ext>
            </a:extLst>
          </p:cNvPr>
          <p:cNvSpPr>
            <a:spLocks noGrp="1"/>
          </p:cNvSpPr>
          <p:nvPr>
            <p:ph idx="1"/>
          </p:nvPr>
        </p:nvSpPr>
        <p:spPr>
          <a:xfrm>
            <a:off x="1097280" y="1463040"/>
            <a:ext cx="10337074" cy="4545874"/>
          </a:xfrm>
        </p:spPr>
        <p:txBody>
          <a:bodyPr>
            <a:normAutofit fontScale="77500" lnSpcReduction="20000"/>
          </a:bodyPr>
          <a:lstStyle/>
          <a:p>
            <a:pPr marL="0" marR="0">
              <a:lnSpc>
                <a:spcPct val="115000"/>
              </a:lnSpc>
              <a:spcAft>
                <a:spcPts val="800"/>
              </a:spcAft>
            </a:pPr>
            <a:r>
              <a:rPr lang="en-US" sz="2300" b="1" kern="100" dirty="0">
                <a:effectLst/>
                <a:ea typeface="Aptos" panose="020B0004020202020204" pitchFamily="34" charset="0"/>
                <a:cs typeface="Times New Roman" panose="02020603050405020304" pitchFamily="18" charset="0"/>
              </a:rPr>
              <a:t>Application of Concepts</a:t>
            </a:r>
            <a:endParaRPr lang="en-US" sz="2300" kern="100" dirty="0">
              <a:effectLst/>
              <a:ea typeface="Aptos" panose="020B0004020202020204" pitchFamily="34" charset="0"/>
              <a:cs typeface="Times New Roman" panose="02020603050405020304" pitchFamily="18" charset="0"/>
            </a:endParaRPr>
          </a:p>
          <a:p>
            <a:pPr marL="0" marR="0">
              <a:lnSpc>
                <a:spcPct val="115000"/>
              </a:lnSpc>
              <a:spcAft>
                <a:spcPts val="800"/>
              </a:spcAft>
            </a:pPr>
            <a:r>
              <a:rPr lang="en-US" sz="2300" kern="100" dirty="0">
                <a:effectLst/>
                <a:ea typeface="Aptos" panose="020B0004020202020204" pitchFamily="34" charset="0"/>
                <a:cs typeface="Times New Roman" panose="02020603050405020304" pitchFamily="18" charset="0"/>
              </a:rPr>
              <a:t>The chapter on the use of color has been highly informative. While many of the concepts discussed were familiar to me, several were particularly insightful. The following are some of the concepts I intend to apply in the future:</a:t>
            </a:r>
          </a:p>
          <a:p>
            <a:pPr marL="342900" marR="0" lvl="0" indent="-342900">
              <a:lnSpc>
                <a:spcPct val="115000"/>
              </a:lnSpc>
              <a:buFont typeface="Symbol" panose="05050102010706020507" pitchFamily="18" charset="2"/>
              <a:buChar char=""/>
            </a:pPr>
            <a:r>
              <a:rPr lang="en-US" sz="2300" kern="100" dirty="0">
                <a:effectLst/>
                <a:ea typeface="Aptos" panose="020B0004020202020204" pitchFamily="34" charset="0"/>
                <a:cs typeface="Times New Roman" panose="02020603050405020304" pitchFamily="18" charset="0"/>
              </a:rPr>
              <a:t>Considering color-blindness when creating charts like heat maps. At work, we ensure that every application or visualization is accessible to everyone, including those with vision impairment, by using large fonts and maintaining sufficient contrast in our charts. However, we currently use default settings for our heat maps and conditional formatting without considering accessibility for color-blind audiences. Moving forward, this will be considered.</a:t>
            </a:r>
          </a:p>
          <a:p>
            <a:pPr marL="342900" marR="0" lvl="0" indent="-342900">
              <a:lnSpc>
                <a:spcPct val="115000"/>
              </a:lnSpc>
              <a:spcAft>
                <a:spcPts val="800"/>
              </a:spcAft>
              <a:buFont typeface="Symbol" panose="05050102010706020507" pitchFamily="18" charset="2"/>
              <a:buChar char=""/>
            </a:pPr>
            <a:r>
              <a:rPr lang="en-US" sz="2300" b="1" kern="100" dirty="0">
                <a:effectLst/>
                <a:ea typeface="Aptos" panose="020B0004020202020204" pitchFamily="34" charset="0"/>
                <a:cs typeface="Times New Roman" panose="02020603050405020304" pitchFamily="18" charset="0"/>
              </a:rPr>
              <a:t>Color Symbolism: </a:t>
            </a:r>
            <a:r>
              <a:rPr lang="en-US" sz="2300" kern="100" dirty="0">
                <a:effectLst/>
                <a:ea typeface="Aptos" panose="020B0004020202020204" pitchFamily="34" charset="0"/>
                <a:cs typeface="Times New Roman" panose="02020603050405020304" pitchFamily="18" charset="0"/>
              </a:rPr>
              <a:t>At my workplace, our audience is not only local to the United States but also includes individuals from diverse regions across the globe. When designing charts and visualization tools, I will carefully consider the cultural significance of colors in various countries before selecting them for my visualizations. Taking color symbolism into account will help ensure that no one is inadvertently offended and that our intended message is accurately communicated.</a:t>
            </a:r>
          </a:p>
          <a:p>
            <a:endParaRPr lang="en-US" dirty="0"/>
          </a:p>
        </p:txBody>
      </p:sp>
    </p:spTree>
    <p:extLst>
      <p:ext uri="{BB962C8B-B14F-4D97-AF65-F5344CB8AC3E}">
        <p14:creationId xmlns:p14="http://schemas.microsoft.com/office/powerpoint/2010/main" val="152171650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2462</TotalTime>
  <Words>1208</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Symbol</vt:lpstr>
      <vt:lpstr>Retrospect</vt:lpstr>
      <vt:lpstr>CIDM 6312 – Seminar in Data Visualization. HW3</vt:lpstr>
      <vt:lpstr>Categorical Colors – Stacked Column Chart Depicting Zoo Attendance by TS.</vt:lpstr>
      <vt:lpstr>Choropleth Map in Sequential Color – Displaying Average Temperature across the US by TS.</vt:lpstr>
      <vt:lpstr>Diverging Colors – Heat Map Illustrating Average Temperature for Indianapolis by TS.</vt:lpstr>
      <vt:lpstr>Part 2 – Choropleth Map of poverty rate and percentage of “low access” kids in the US</vt:lpstr>
      <vt:lpstr>Part 2: Choropleth Map - Analysis and Critiques</vt:lpstr>
      <vt:lpstr>Part 2: Choropleth map - Proposed Corrections</vt:lpstr>
      <vt:lpstr>Part 2 – Bar Chart of Students’ favorite candies</vt:lpstr>
      <vt:lpstr>Part 2: Bar Chart – Analysis and Critiques.</vt:lpstr>
      <vt:lpstr>Part 2: Bar Chart – Proposed Correction</vt:lpstr>
      <vt:lpstr>Part 3 - Reflection</vt:lpstr>
      <vt:lpstr>Part 3 -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akeem shadare</dc:creator>
  <cp:lastModifiedBy>akeem shadare</cp:lastModifiedBy>
  <cp:revision>1</cp:revision>
  <dcterms:created xsi:type="dcterms:W3CDTF">2025-02-13T04:53:22Z</dcterms:created>
  <dcterms:modified xsi:type="dcterms:W3CDTF">2025-02-14T21:56:08Z</dcterms:modified>
</cp:coreProperties>
</file>