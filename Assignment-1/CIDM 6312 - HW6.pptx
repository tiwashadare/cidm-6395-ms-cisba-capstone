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2" r:id="rId5"/>
    <p:sldId id="263" r:id="rId6"/>
    <p:sldId id="260" r:id="rId7"/>
    <p:sldId id="261" r:id="rId8"/>
    <p:sldId id="266"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95AB2F-F08F-4AF7-8823-BD6E8D1C8580}" v="4" dt="2025-03-19T04:03:36.7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7" d="100"/>
          <a:sy n="97" d="100"/>
        </p:scale>
        <p:origin x="1110"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eem shadare" userId="9a98641ab4cd53fe" providerId="LiveId" clId="{CB95AB2F-F08F-4AF7-8823-BD6E8D1C8580}"/>
    <pc:docChg chg="undo custSel addSld delSld modSld sldOrd">
      <pc:chgData name="akeem shadare" userId="9a98641ab4cd53fe" providerId="LiveId" clId="{CB95AB2F-F08F-4AF7-8823-BD6E8D1C8580}" dt="2025-03-20T03:20:05.222" v="7565" actId="1582"/>
      <pc:docMkLst>
        <pc:docMk/>
      </pc:docMkLst>
      <pc:sldChg chg="modSp mod">
        <pc:chgData name="akeem shadare" userId="9a98641ab4cd53fe" providerId="LiveId" clId="{CB95AB2F-F08F-4AF7-8823-BD6E8D1C8580}" dt="2025-03-20T03:20:05.222" v="7565" actId="1582"/>
        <pc:sldMkLst>
          <pc:docMk/>
          <pc:sldMk cId="3696371159" sldId="257"/>
        </pc:sldMkLst>
        <pc:spChg chg="mod">
          <ac:chgData name="akeem shadare" userId="9a98641ab4cd53fe" providerId="LiveId" clId="{CB95AB2F-F08F-4AF7-8823-BD6E8D1C8580}" dt="2025-03-19T03:09:57.492" v="1373" actId="404"/>
          <ac:spMkLst>
            <pc:docMk/>
            <pc:sldMk cId="3696371159" sldId="257"/>
            <ac:spMk id="2" creationId="{255C3E50-80BD-44D5-BEE7-8F5C09288347}"/>
          </ac:spMkLst>
        </pc:spChg>
        <pc:spChg chg="mod">
          <ac:chgData name="akeem shadare" userId="9a98641ab4cd53fe" providerId="LiveId" clId="{CB95AB2F-F08F-4AF7-8823-BD6E8D1C8580}" dt="2025-03-19T03:10:34.213" v="1400" actId="20577"/>
          <ac:spMkLst>
            <pc:docMk/>
            <pc:sldMk cId="3696371159" sldId="257"/>
            <ac:spMk id="6" creationId="{6E82E146-FF0C-4D18-29BA-F1995CBBBA6A}"/>
          </ac:spMkLst>
        </pc:spChg>
        <pc:picChg chg="mod">
          <ac:chgData name="akeem shadare" userId="9a98641ab4cd53fe" providerId="LiveId" clId="{CB95AB2F-F08F-4AF7-8823-BD6E8D1C8580}" dt="2025-03-20T03:20:05.222" v="7565" actId="1582"/>
          <ac:picMkLst>
            <pc:docMk/>
            <pc:sldMk cId="3696371159" sldId="257"/>
            <ac:picMk id="5" creationId="{F10B3342-4894-B396-9AEB-D512ADD479CF}"/>
          </ac:picMkLst>
        </pc:picChg>
      </pc:sldChg>
      <pc:sldChg chg="addSp delSp modSp mod">
        <pc:chgData name="akeem shadare" userId="9a98641ab4cd53fe" providerId="LiveId" clId="{CB95AB2F-F08F-4AF7-8823-BD6E8D1C8580}" dt="2025-03-19T03:24:06.407" v="1950" actId="20577"/>
        <pc:sldMkLst>
          <pc:docMk/>
          <pc:sldMk cId="2061917927" sldId="258"/>
        </pc:sldMkLst>
        <pc:spChg chg="mod">
          <ac:chgData name="akeem shadare" userId="9a98641ab4cd53fe" providerId="LiveId" clId="{CB95AB2F-F08F-4AF7-8823-BD6E8D1C8580}" dt="2025-03-19T02:57:34.778" v="1023" actId="113"/>
          <ac:spMkLst>
            <pc:docMk/>
            <pc:sldMk cId="2061917927" sldId="258"/>
            <ac:spMk id="2" creationId="{5945DE37-CDAC-C1FE-AD8F-C4AE4419B4E5}"/>
          </ac:spMkLst>
        </pc:spChg>
        <pc:spChg chg="mod">
          <ac:chgData name="akeem shadare" userId="9a98641ab4cd53fe" providerId="LiveId" clId="{CB95AB2F-F08F-4AF7-8823-BD6E8D1C8580}" dt="2025-03-19T03:24:06.407" v="1950" actId="20577"/>
          <ac:spMkLst>
            <pc:docMk/>
            <pc:sldMk cId="2061917927" sldId="258"/>
            <ac:spMk id="6" creationId="{8803905E-BFE4-02BD-1C35-B355C9FB5C4E}"/>
          </ac:spMkLst>
        </pc:spChg>
        <pc:picChg chg="add mod ord">
          <ac:chgData name="akeem shadare" userId="9a98641ab4cd53fe" providerId="LiveId" clId="{CB95AB2F-F08F-4AF7-8823-BD6E8D1C8580}" dt="2025-03-19T03:06:38.515" v="1302" actId="14100"/>
          <ac:picMkLst>
            <pc:docMk/>
            <pc:sldMk cId="2061917927" sldId="258"/>
            <ac:picMk id="18" creationId="{4EF9E3FC-6684-C7E5-0A32-568F77D2168B}"/>
          </ac:picMkLst>
        </pc:picChg>
      </pc:sldChg>
      <pc:sldChg chg="del">
        <pc:chgData name="akeem shadare" userId="9a98641ab4cd53fe" providerId="LiveId" clId="{CB95AB2F-F08F-4AF7-8823-BD6E8D1C8580}" dt="2025-03-18T17:45:18.590" v="10" actId="2696"/>
        <pc:sldMkLst>
          <pc:docMk/>
          <pc:sldMk cId="609136208" sldId="259"/>
        </pc:sldMkLst>
      </pc:sldChg>
      <pc:sldChg chg="addSp delSp modSp new mod">
        <pc:chgData name="akeem shadare" userId="9a98641ab4cd53fe" providerId="LiveId" clId="{CB95AB2F-F08F-4AF7-8823-BD6E8D1C8580}" dt="2025-03-19T04:06:12.789" v="5541" actId="14100"/>
        <pc:sldMkLst>
          <pc:docMk/>
          <pc:sldMk cId="3147402614" sldId="260"/>
        </pc:sldMkLst>
        <pc:spChg chg="mod">
          <ac:chgData name="akeem shadare" userId="9a98641ab4cd53fe" providerId="LiveId" clId="{CB95AB2F-F08F-4AF7-8823-BD6E8D1C8580}" dt="2025-03-19T04:06:12.789" v="5541" actId="14100"/>
          <ac:spMkLst>
            <pc:docMk/>
            <pc:sldMk cId="3147402614" sldId="260"/>
            <ac:spMk id="2" creationId="{FC4C05A8-37B4-74FD-B5EF-2A2CAE751807}"/>
          </ac:spMkLst>
        </pc:spChg>
        <pc:picChg chg="add mod ord">
          <ac:chgData name="akeem shadare" userId="9a98641ab4cd53fe" providerId="LiveId" clId="{CB95AB2F-F08F-4AF7-8823-BD6E8D1C8580}" dt="2025-03-19T02:56:55.209" v="1004" actId="14100"/>
          <ac:picMkLst>
            <pc:docMk/>
            <pc:sldMk cId="3147402614" sldId="260"/>
            <ac:picMk id="5" creationId="{4DA40C3B-4625-6FAA-03F3-C45D273DEC3D}"/>
          </ac:picMkLst>
        </pc:picChg>
      </pc:sldChg>
      <pc:sldChg chg="addSp delSp modSp new mod">
        <pc:chgData name="akeem shadare" userId="9a98641ab4cd53fe" providerId="LiveId" clId="{CB95AB2F-F08F-4AF7-8823-BD6E8D1C8580}" dt="2025-03-19T04:06:34.522" v="5559" actId="20577"/>
        <pc:sldMkLst>
          <pc:docMk/>
          <pc:sldMk cId="2666236290" sldId="261"/>
        </pc:sldMkLst>
        <pc:spChg chg="mod">
          <ac:chgData name="akeem shadare" userId="9a98641ab4cd53fe" providerId="LiveId" clId="{CB95AB2F-F08F-4AF7-8823-BD6E8D1C8580}" dt="2025-03-19T04:06:34.522" v="5559" actId="20577"/>
          <ac:spMkLst>
            <pc:docMk/>
            <pc:sldMk cId="2666236290" sldId="261"/>
            <ac:spMk id="2" creationId="{AC3248D6-7479-22C0-6606-EEF96EB4BAFB}"/>
          </ac:spMkLst>
        </pc:spChg>
        <pc:picChg chg="add mod ord">
          <ac:chgData name="akeem shadare" userId="9a98641ab4cd53fe" providerId="LiveId" clId="{CB95AB2F-F08F-4AF7-8823-BD6E8D1C8580}" dt="2025-03-19T02:56:06.241" v="983" actId="1582"/>
          <ac:picMkLst>
            <pc:docMk/>
            <pc:sldMk cId="2666236290" sldId="261"/>
            <ac:picMk id="5" creationId="{23C5F930-D802-E029-A0D5-3C0E5FA44B41}"/>
          </ac:picMkLst>
        </pc:picChg>
      </pc:sldChg>
      <pc:sldChg chg="modSp new mod ord">
        <pc:chgData name="akeem shadare" userId="9a98641ab4cd53fe" providerId="LiveId" clId="{CB95AB2F-F08F-4AF7-8823-BD6E8D1C8580}" dt="2025-03-19T03:46:12.073" v="3492" actId="20577"/>
        <pc:sldMkLst>
          <pc:docMk/>
          <pc:sldMk cId="737744313" sldId="262"/>
        </pc:sldMkLst>
        <pc:spChg chg="mod">
          <ac:chgData name="akeem shadare" userId="9a98641ab4cd53fe" providerId="LiveId" clId="{CB95AB2F-F08F-4AF7-8823-BD6E8D1C8580}" dt="2025-03-19T03:46:12.073" v="3492" actId="20577"/>
          <ac:spMkLst>
            <pc:docMk/>
            <pc:sldMk cId="737744313" sldId="262"/>
            <ac:spMk id="2" creationId="{A7BA7942-79FA-80B2-28F7-1A36C371443B}"/>
          </ac:spMkLst>
        </pc:spChg>
        <pc:spChg chg="mod">
          <ac:chgData name="akeem shadare" userId="9a98641ab4cd53fe" providerId="LiveId" clId="{CB95AB2F-F08F-4AF7-8823-BD6E8D1C8580}" dt="2025-03-19T03:45:54.003" v="3481" actId="34807"/>
          <ac:spMkLst>
            <pc:docMk/>
            <pc:sldMk cId="737744313" sldId="262"/>
            <ac:spMk id="3" creationId="{DB91503C-D445-9D63-7CD1-30A0DBE6310E}"/>
          </ac:spMkLst>
        </pc:spChg>
      </pc:sldChg>
      <pc:sldChg chg="modSp new mod">
        <pc:chgData name="akeem shadare" userId="9a98641ab4cd53fe" providerId="LiveId" clId="{CB95AB2F-F08F-4AF7-8823-BD6E8D1C8580}" dt="2025-03-19T04:05:30.636" v="5524" actId="14100"/>
        <pc:sldMkLst>
          <pc:docMk/>
          <pc:sldMk cId="521434817" sldId="263"/>
        </pc:sldMkLst>
        <pc:spChg chg="mod">
          <ac:chgData name="akeem shadare" userId="9a98641ab4cd53fe" providerId="LiveId" clId="{CB95AB2F-F08F-4AF7-8823-BD6E8D1C8580}" dt="2025-03-19T04:05:23.075" v="5521" actId="20577"/>
          <ac:spMkLst>
            <pc:docMk/>
            <pc:sldMk cId="521434817" sldId="263"/>
            <ac:spMk id="2" creationId="{46489F38-4904-E612-082C-BBD2169139BB}"/>
          </ac:spMkLst>
        </pc:spChg>
        <pc:spChg chg="mod">
          <ac:chgData name="akeem shadare" userId="9a98641ab4cd53fe" providerId="LiveId" clId="{CB95AB2F-F08F-4AF7-8823-BD6E8D1C8580}" dt="2025-03-19T04:05:30.636" v="5524" actId="14100"/>
          <ac:spMkLst>
            <pc:docMk/>
            <pc:sldMk cId="521434817" sldId="263"/>
            <ac:spMk id="3" creationId="{25E989B5-17D0-AA37-7C7D-CB6722C37B7D}"/>
          </ac:spMkLst>
        </pc:spChg>
      </pc:sldChg>
      <pc:sldChg chg="addSp delSp modSp new del mod ord">
        <pc:chgData name="akeem shadare" userId="9a98641ab4cd53fe" providerId="LiveId" clId="{CB95AB2F-F08F-4AF7-8823-BD6E8D1C8580}" dt="2025-03-20T03:19:25.114" v="7564" actId="2696"/>
        <pc:sldMkLst>
          <pc:docMk/>
          <pc:sldMk cId="2546043312" sldId="264"/>
        </pc:sldMkLst>
        <pc:spChg chg="mod">
          <ac:chgData name="akeem shadare" userId="9a98641ab4cd53fe" providerId="LiveId" clId="{CB95AB2F-F08F-4AF7-8823-BD6E8D1C8580}" dt="2025-03-19T21:22:12.214" v="5639" actId="27636"/>
          <ac:spMkLst>
            <pc:docMk/>
            <pc:sldMk cId="2546043312" sldId="264"/>
            <ac:spMk id="2" creationId="{A85AC7D0-4D0C-36E1-60E3-F137E8B75853}"/>
          </ac:spMkLst>
        </pc:spChg>
        <pc:spChg chg="del">
          <ac:chgData name="akeem shadare" userId="9a98641ab4cd53fe" providerId="LiveId" clId="{CB95AB2F-F08F-4AF7-8823-BD6E8D1C8580}" dt="2025-03-19T21:16:45.973" v="5565" actId="22"/>
          <ac:spMkLst>
            <pc:docMk/>
            <pc:sldMk cId="2546043312" sldId="264"/>
            <ac:spMk id="3" creationId="{F3AD3B4D-469B-ACE4-A095-D876422546E4}"/>
          </ac:spMkLst>
        </pc:spChg>
        <pc:picChg chg="add mod ord">
          <ac:chgData name="akeem shadare" userId="9a98641ab4cd53fe" providerId="LiveId" clId="{CB95AB2F-F08F-4AF7-8823-BD6E8D1C8580}" dt="2025-03-19T21:22:31.513" v="5640" actId="1582"/>
          <ac:picMkLst>
            <pc:docMk/>
            <pc:sldMk cId="2546043312" sldId="264"/>
            <ac:picMk id="5" creationId="{E1AB232A-AB7F-6622-480A-53D81897ACE8}"/>
          </ac:picMkLst>
        </pc:picChg>
      </pc:sldChg>
      <pc:sldChg chg="modSp new mod">
        <pc:chgData name="akeem shadare" userId="9a98641ab4cd53fe" providerId="LiveId" clId="{CB95AB2F-F08F-4AF7-8823-BD6E8D1C8580}" dt="2025-03-20T03:18:19.200" v="7563" actId="34807"/>
        <pc:sldMkLst>
          <pc:docMk/>
          <pc:sldMk cId="2240673630" sldId="265"/>
        </pc:sldMkLst>
        <pc:spChg chg="mod">
          <ac:chgData name="akeem shadare" userId="9a98641ab4cd53fe" providerId="LiveId" clId="{CB95AB2F-F08F-4AF7-8823-BD6E8D1C8580}" dt="2025-03-19T21:27:16.120" v="6065" actId="113"/>
          <ac:spMkLst>
            <pc:docMk/>
            <pc:sldMk cId="2240673630" sldId="265"/>
            <ac:spMk id="2" creationId="{D7D33F73-1C20-4FFF-9A52-6594E0F963DC}"/>
          </ac:spMkLst>
        </pc:spChg>
        <pc:spChg chg="mod">
          <ac:chgData name="akeem shadare" userId="9a98641ab4cd53fe" providerId="LiveId" clId="{CB95AB2F-F08F-4AF7-8823-BD6E8D1C8580}" dt="2025-03-20T03:18:19.200" v="7563" actId="34807"/>
          <ac:spMkLst>
            <pc:docMk/>
            <pc:sldMk cId="2240673630" sldId="265"/>
            <ac:spMk id="3" creationId="{A5F4BDFC-56CA-1A8E-4EAF-AAADF7C17AFA}"/>
          </ac:spMkLst>
        </pc:spChg>
      </pc:sldChg>
      <pc:sldChg chg="addSp delSp modSp new mod">
        <pc:chgData name="akeem shadare" userId="9a98641ab4cd53fe" providerId="LiveId" clId="{CB95AB2F-F08F-4AF7-8823-BD6E8D1C8580}" dt="2025-03-20T03:09:53.073" v="6702" actId="1582"/>
        <pc:sldMkLst>
          <pc:docMk/>
          <pc:sldMk cId="2612988161" sldId="266"/>
        </pc:sldMkLst>
        <pc:spChg chg="mod">
          <ac:chgData name="akeem shadare" userId="9a98641ab4cd53fe" providerId="LiveId" clId="{CB95AB2F-F08F-4AF7-8823-BD6E8D1C8580}" dt="2025-03-20T03:09:34.548" v="6700"/>
          <ac:spMkLst>
            <pc:docMk/>
            <pc:sldMk cId="2612988161" sldId="266"/>
            <ac:spMk id="2" creationId="{A69264CC-8571-6C06-0DB8-DD94FD5C5698}"/>
          </ac:spMkLst>
        </pc:spChg>
        <pc:spChg chg="del mod">
          <ac:chgData name="akeem shadare" userId="9a98641ab4cd53fe" providerId="LiveId" clId="{CB95AB2F-F08F-4AF7-8823-BD6E8D1C8580}" dt="2025-03-20T03:08:47.228" v="6695" actId="22"/>
          <ac:spMkLst>
            <pc:docMk/>
            <pc:sldMk cId="2612988161" sldId="266"/>
            <ac:spMk id="3" creationId="{C7935377-FA9F-7B6E-E2BB-C7FC7C290BD1}"/>
          </ac:spMkLst>
        </pc:spChg>
        <pc:picChg chg="add mod ord">
          <ac:chgData name="akeem shadare" userId="9a98641ab4cd53fe" providerId="LiveId" clId="{CB95AB2F-F08F-4AF7-8823-BD6E8D1C8580}" dt="2025-03-20T03:09:53.073" v="6702" actId="1582"/>
          <ac:picMkLst>
            <pc:docMk/>
            <pc:sldMk cId="2612988161" sldId="266"/>
            <ac:picMk id="5" creationId="{FE690B0B-CC33-640A-775E-5EE5C67EE666}"/>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D77E39-6304-48E8-B8D2-304916FC6624}" type="datetimeFigureOut">
              <a:rPr lang="en-US" smtClean="0"/>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05A107-6A9F-4DED-9150-59BE7B1F0DC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739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D77E39-6304-48E8-B8D2-304916FC6624}" type="datetimeFigureOut">
              <a:rPr lang="en-US" smtClean="0"/>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05A107-6A9F-4DED-9150-59BE7B1F0DC2}" type="slidenum">
              <a:rPr lang="en-US" smtClean="0"/>
              <a:t>‹#›</a:t>
            </a:fld>
            <a:endParaRPr lang="en-US"/>
          </a:p>
        </p:txBody>
      </p:sp>
    </p:spTree>
    <p:extLst>
      <p:ext uri="{BB962C8B-B14F-4D97-AF65-F5344CB8AC3E}">
        <p14:creationId xmlns:p14="http://schemas.microsoft.com/office/powerpoint/2010/main" val="1862592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D77E39-6304-48E8-B8D2-304916FC6624}" type="datetimeFigureOut">
              <a:rPr lang="en-US" smtClean="0"/>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05A107-6A9F-4DED-9150-59BE7B1F0DC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0030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5D77E39-6304-48E8-B8D2-304916FC6624}" type="datetimeFigureOut">
              <a:rPr lang="en-US" smtClean="0"/>
              <a:t>3/16/2025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05A107-6A9F-4DED-9150-59BE7B1F0DC2}" type="slidenum">
              <a:rPr lang="en-US" smtClean="0"/>
              <a:t>‹#›</a:t>
            </a:fld>
            <a:endParaRPr lang="en-US"/>
          </a:p>
        </p:txBody>
      </p:sp>
    </p:spTree>
    <p:extLst>
      <p:ext uri="{BB962C8B-B14F-4D97-AF65-F5344CB8AC3E}">
        <p14:creationId xmlns:p14="http://schemas.microsoft.com/office/powerpoint/2010/main" val="3694402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D77E39-6304-48E8-B8D2-304916FC6624}" type="datetimeFigureOut">
              <a:rPr lang="en-US" smtClean="0"/>
              <a:t>3/16/2025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E05A107-6A9F-4DED-9150-59BE7B1F0DC2}" type="slidenum">
              <a:rPr lang="en-US" smtClean="0"/>
              <a:t>‹#›</a:t>
            </a:fld>
            <a:endParaRPr lang="en-US"/>
          </a:p>
        </p:txBody>
      </p:sp>
    </p:spTree>
    <p:extLst>
      <p:ext uri="{BB962C8B-B14F-4D97-AF65-F5344CB8AC3E}">
        <p14:creationId xmlns:p14="http://schemas.microsoft.com/office/powerpoint/2010/main" val="896226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5D77E39-6304-48E8-B8D2-304916FC6624}" type="datetimeFigureOut">
              <a:rPr lang="en-US" smtClean="0"/>
              <a:t>3/16/2025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E05A107-6A9F-4DED-9150-59BE7B1F0DC2}" type="slidenum">
              <a:rPr lang="en-US" smtClean="0"/>
              <a:t>‹#›</a:t>
            </a:fld>
            <a:endParaRPr lang="en-US"/>
          </a:p>
        </p:txBody>
      </p:sp>
    </p:spTree>
    <p:extLst>
      <p:ext uri="{BB962C8B-B14F-4D97-AF65-F5344CB8AC3E}">
        <p14:creationId xmlns:p14="http://schemas.microsoft.com/office/powerpoint/2010/main" val="4025761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5D77E39-6304-48E8-B8D2-304916FC6624}" type="datetimeFigureOut">
              <a:rPr lang="en-US" smtClean="0"/>
              <a:t>3/16/2025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3E05A107-6A9F-4DED-9150-59BE7B1F0DC2}" type="slidenum">
              <a:rPr lang="en-US" smtClean="0"/>
              <a:t>‹#›</a:t>
            </a:fld>
            <a:endParaRPr lang="en-US"/>
          </a:p>
        </p:txBody>
      </p:sp>
    </p:spTree>
    <p:extLst>
      <p:ext uri="{BB962C8B-B14F-4D97-AF65-F5344CB8AC3E}">
        <p14:creationId xmlns:p14="http://schemas.microsoft.com/office/powerpoint/2010/main" val="3748803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5D77E39-6304-48E8-B8D2-304916FC6624}" type="datetimeFigureOut">
              <a:rPr lang="en-US" smtClean="0"/>
              <a:t>3/16/2025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E05A107-6A9F-4DED-9150-59BE7B1F0DC2}" type="slidenum">
              <a:rPr lang="en-US" smtClean="0"/>
              <a:t>‹#›</a:t>
            </a:fld>
            <a:endParaRPr lang="en-US"/>
          </a:p>
        </p:txBody>
      </p:sp>
    </p:spTree>
    <p:extLst>
      <p:ext uri="{BB962C8B-B14F-4D97-AF65-F5344CB8AC3E}">
        <p14:creationId xmlns:p14="http://schemas.microsoft.com/office/powerpoint/2010/main" val="480599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5D77E39-6304-48E8-B8D2-304916FC6624}" type="datetimeFigureOut">
              <a:rPr lang="en-US" smtClean="0"/>
              <a:t>3/16/2025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05A107-6A9F-4DED-9150-59BE7B1F0DC2}" type="slidenum">
              <a:rPr lang="en-US" smtClean="0"/>
              <a:t>‹#›</a:t>
            </a:fld>
            <a:endParaRPr lang="en-US"/>
          </a:p>
        </p:txBody>
      </p:sp>
    </p:spTree>
    <p:extLst>
      <p:ext uri="{BB962C8B-B14F-4D97-AF65-F5344CB8AC3E}">
        <p14:creationId xmlns:p14="http://schemas.microsoft.com/office/powerpoint/2010/main" val="1930646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D77E39-6304-48E8-B8D2-304916FC6624}" type="datetimeFigureOut">
              <a:rPr lang="en-US" smtClean="0"/>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05A107-6A9F-4DED-9150-59BE7B1F0DC2}" type="slidenum">
              <a:rPr lang="en-US" smtClean="0"/>
              <a:t>‹#›</a:t>
            </a:fld>
            <a:endParaRPr lang="en-US"/>
          </a:p>
        </p:txBody>
      </p:sp>
    </p:spTree>
    <p:extLst>
      <p:ext uri="{BB962C8B-B14F-4D97-AF65-F5344CB8AC3E}">
        <p14:creationId xmlns:p14="http://schemas.microsoft.com/office/powerpoint/2010/main" val="20947849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D77E39-6304-48E8-B8D2-304916FC6624}" type="datetimeFigureOut">
              <a:rPr lang="en-US" smtClean="0"/>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05A107-6A9F-4DED-9150-59BE7B1F0DC2}" type="slidenum">
              <a:rPr lang="en-US" smtClean="0"/>
              <a:t>‹#›</a:t>
            </a:fld>
            <a:endParaRPr lang="en-US"/>
          </a:p>
        </p:txBody>
      </p:sp>
    </p:spTree>
    <p:extLst>
      <p:ext uri="{BB962C8B-B14F-4D97-AF65-F5344CB8AC3E}">
        <p14:creationId xmlns:p14="http://schemas.microsoft.com/office/powerpoint/2010/main" val="3821315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5D77E39-6304-48E8-B8D2-304916FC6624}" type="datetimeFigureOut">
              <a:rPr lang="en-US" smtClean="0"/>
              <a:t>3/16/2025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3E05A107-6A9F-4DED-9150-59BE7B1F0DC2}"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40792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yesware.com/blog/sales-dashboard/"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geckoboard.com/dashboard-examples/sale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3AE18-BD9A-92A7-1320-E6ABAA45288D}"/>
              </a:ext>
            </a:extLst>
          </p:cNvPr>
          <p:cNvSpPr>
            <a:spLocks noGrp="1"/>
          </p:cNvSpPr>
          <p:nvPr>
            <p:ph type="ctrTitle"/>
          </p:nvPr>
        </p:nvSpPr>
        <p:spPr/>
        <p:txBody>
          <a:bodyPr>
            <a:normAutofit/>
          </a:bodyPr>
          <a:lstStyle/>
          <a:p>
            <a:r>
              <a:rPr lang="en-US" b="1" dirty="0"/>
              <a:t>CIDM 6312 – Seminar in Information Visualization</a:t>
            </a:r>
            <a:br>
              <a:rPr lang="en-US" b="1" dirty="0"/>
            </a:br>
            <a:r>
              <a:rPr lang="en-US" b="1" dirty="0"/>
              <a:t>HW6</a:t>
            </a:r>
          </a:p>
        </p:txBody>
      </p:sp>
      <p:sp>
        <p:nvSpPr>
          <p:cNvPr id="3" name="Subtitle 2">
            <a:extLst>
              <a:ext uri="{FF2B5EF4-FFF2-40B4-BE49-F238E27FC236}">
                <a16:creationId xmlns:a16="http://schemas.microsoft.com/office/drawing/2014/main" id="{B598E72A-674C-AECD-9530-57489BCE76B7}"/>
              </a:ext>
            </a:extLst>
          </p:cNvPr>
          <p:cNvSpPr>
            <a:spLocks noGrp="1"/>
          </p:cNvSpPr>
          <p:nvPr>
            <p:ph type="subTitle" idx="1"/>
          </p:nvPr>
        </p:nvSpPr>
        <p:spPr/>
        <p:txBody>
          <a:bodyPr/>
          <a:lstStyle/>
          <a:p>
            <a:r>
              <a:rPr lang="en-US" b="1" dirty="0"/>
              <a:t>SUBMITTED BY: TIWALOPE SHADARE</a:t>
            </a:r>
          </a:p>
        </p:txBody>
      </p:sp>
    </p:spTree>
    <p:extLst>
      <p:ext uri="{BB962C8B-B14F-4D97-AF65-F5344CB8AC3E}">
        <p14:creationId xmlns:p14="http://schemas.microsoft.com/office/powerpoint/2010/main" val="30857819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C3E50-80BD-44D5-BEE7-8F5C09288347}"/>
              </a:ext>
            </a:extLst>
          </p:cNvPr>
          <p:cNvSpPr>
            <a:spLocks noGrp="1"/>
          </p:cNvSpPr>
          <p:nvPr>
            <p:ph type="title"/>
          </p:nvPr>
        </p:nvSpPr>
        <p:spPr>
          <a:xfrm>
            <a:off x="212942" y="286603"/>
            <a:ext cx="11786991" cy="740531"/>
          </a:xfrm>
        </p:spPr>
        <p:txBody>
          <a:bodyPr>
            <a:noAutofit/>
          </a:bodyPr>
          <a:lstStyle/>
          <a:p>
            <a:r>
              <a:rPr lang="en-US" sz="3600" b="1" dirty="0"/>
              <a:t>Part 1 - Dashboard Showing Sales Pipeline KPIs (Bad Example)</a:t>
            </a:r>
          </a:p>
        </p:txBody>
      </p:sp>
      <p:pic>
        <p:nvPicPr>
          <p:cNvPr id="5" name="Content Placeholder 4">
            <a:extLst>
              <a:ext uri="{FF2B5EF4-FFF2-40B4-BE49-F238E27FC236}">
                <a16:creationId xmlns:a16="http://schemas.microsoft.com/office/drawing/2014/main" id="{F10B3342-4894-B396-9AEB-D512ADD479CF}"/>
              </a:ext>
            </a:extLst>
          </p:cNvPr>
          <p:cNvPicPr>
            <a:picLocks noGrp="1" noChangeAspect="1"/>
          </p:cNvPicPr>
          <p:nvPr>
            <p:ph idx="1"/>
          </p:nvPr>
        </p:nvPicPr>
        <p:blipFill>
          <a:blip r:embed="rId2"/>
          <a:stretch>
            <a:fillRect/>
          </a:stretch>
        </p:blipFill>
        <p:spPr>
          <a:xfrm>
            <a:off x="864294" y="1165181"/>
            <a:ext cx="7302675" cy="5166714"/>
          </a:xfrm>
          <a:ln w="9525">
            <a:solidFill>
              <a:schemeClr val="tx1"/>
            </a:solidFill>
          </a:ln>
        </p:spPr>
      </p:pic>
      <p:sp>
        <p:nvSpPr>
          <p:cNvPr id="6" name="TextBox 5">
            <a:extLst>
              <a:ext uri="{FF2B5EF4-FFF2-40B4-BE49-F238E27FC236}">
                <a16:creationId xmlns:a16="http://schemas.microsoft.com/office/drawing/2014/main" id="{6E82E146-FF0C-4D18-29BA-F1995CBBBA6A}"/>
              </a:ext>
            </a:extLst>
          </p:cNvPr>
          <p:cNvSpPr txBox="1"/>
          <p:nvPr/>
        </p:nvSpPr>
        <p:spPr>
          <a:xfrm>
            <a:off x="8166968" y="1402916"/>
            <a:ext cx="4025032" cy="5078313"/>
          </a:xfrm>
          <a:prstGeom prst="rect">
            <a:avLst/>
          </a:prstGeom>
          <a:noFill/>
        </p:spPr>
        <p:txBody>
          <a:bodyPr wrap="square" rtlCol="0">
            <a:spAutoFit/>
          </a:bodyPr>
          <a:lstStyle/>
          <a:p>
            <a:pPr marL="0" indent="0" algn="l" rtl="0" eaLnBrk="1" latinLnBrk="0" hangingPunct="1">
              <a:buNone/>
            </a:pPr>
            <a:r>
              <a:rPr lang="en-US" sz="1800" b="1" dirty="0">
                <a:solidFill>
                  <a:srgbClr val="000000"/>
                </a:solidFill>
                <a:effectLst/>
                <a:latin typeface="Calibri" panose="020F0502020204030204" pitchFamily="34" charset="0"/>
              </a:rPr>
              <a:t>Goal:</a:t>
            </a:r>
            <a:r>
              <a:rPr lang="en-US" sz="1800" dirty="0">
                <a:solidFill>
                  <a:srgbClr val="000000"/>
                </a:solidFill>
                <a:effectLst/>
                <a:latin typeface="Calibri" panose="020F0502020204030204" pitchFamily="34" charset="0"/>
              </a:rPr>
              <a:t> To showcase details and performance metrics of the Sales Pipeline</a:t>
            </a:r>
          </a:p>
          <a:p>
            <a:pPr marL="0" indent="0" algn="l" rtl="0" eaLnBrk="1" latinLnBrk="0" hangingPunct="1">
              <a:buNone/>
            </a:pPr>
            <a:br>
              <a:rPr lang="en-US" sz="1800" dirty="0">
                <a:solidFill>
                  <a:srgbClr val="000000"/>
                </a:solidFill>
                <a:effectLst/>
                <a:latin typeface="Calibri" panose="020F0502020204030204" pitchFamily="34" charset="0"/>
              </a:rPr>
            </a:br>
            <a:r>
              <a:rPr lang="en-US" sz="1800" b="1" dirty="0">
                <a:solidFill>
                  <a:srgbClr val="000000"/>
                </a:solidFill>
                <a:effectLst/>
                <a:latin typeface="Calibri" panose="020F0502020204030204" pitchFamily="34" charset="0"/>
              </a:rPr>
              <a:t>Dashboard Type:</a:t>
            </a:r>
            <a:r>
              <a:rPr lang="en-US" sz="1800" dirty="0">
                <a:solidFill>
                  <a:srgbClr val="000000"/>
                </a:solidFill>
                <a:effectLst/>
                <a:latin typeface="Calibri" panose="020F0502020204030204" pitchFamily="34" charset="0"/>
              </a:rPr>
              <a:t> Interactive/Dynamic – Drill-down dashboard. Operational dashboard.</a:t>
            </a:r>
          </a:p>
          <a:p>
            <a:pPr marL="0" indent="0" algn="l" rtl="0" eaLnBrk="1" latinLnBrk="0" hangingPunct="1">
              <a:buNone/>
            </a:pPr>
            <a:br>
              <a:rPr lang="en-US" sz="1800" dirty="0">
                <a:solidFill>
                  <a:srgbClr val="000000"/>
                </a:solidFill>
                <a:effectLst/>
                <a:latin typeface="Calibri" panose="020F0502020204030204" pitchFamily="34" charset="0"/>
              </a:rPr>
            </a:br>
            <a:r>
              <a:rPr lang="en-US" sz="1800" b="1" dirty="0">
                <a:solidFill>
                  <a:srgbClr val="000000"/>
                </a:solidFill>
                <a:effectLst/>
                <a:latin typeface="Calibri" panose="020F0502020204030204" pitchFamily="34" charset="0"/>
              </a:rPr>
              <a:t>Brief Overview:</a:t>
            </a:r>
            <a:r>
              <a:rPr lang="en-US" sz="1800" dirty="0">
                <a:solidFill>
                  <a:srgbClr val="000000"/>
                </a:solidFill>
                <a:effectLst/>
                <a:latin typeface="Calibri" panose="020F0502020204030204" pitchFamily="34" charset="0"/>
              </a:rPr>
              <a:t> This dashboard aims to present a detailed breakdown of essential metrics for sales representatives. While it may be complex, it offers comprehensive insights into crucial sales data related to the sales pipeline.</a:t>
            </a:r>
          </a:p>
          <a:p>
            <a:pPr marL="0" indent="0" algn="l" rtl="0" eaLnBrk="1" latinLnBrk="0" hangingPunct="1">
              <a:buNone/>
            </a:pPr>
            <a:br>
              <a:rPr lang="en-US" sz="1800" dirty="0">
                <a:solidFill>
                  <a:srgbClr val="000000"/>
                </a:solidFill>
                <a:effectLst/>
                <a:latin typeface="Calibri" panose="020F0502020204030204" pitchFamily="34" charset="0"/>
              </a:rPr>
            </a:br>
            <a:r>
              <a:rPr lang="en-US" sz="1800" b="1" dirty="0">
                <a:solidFill>
                  <a:srgbClr val="000000"/>
                </a:solidFill>
                <a:effectLst/>
                <a:latin typeface="Calibri" panose="020F0502020204030204" pitchFamily="34" charset="0"/>
              </a:rPr>
              <a:t>Hyperlink:</a:t>
            </a:r>
            <a:r>
              <a:rPr lang="en-US" sz="1800" dirty="0">
                <a:solidFill>
                  <a:srgbClr val="000000"/>
                </a:solidFill>
                <a:effectLst/>
                <a:latin typeface="Calibri" panose="020F0502020204030204" pitchFamily="34" charset="0"/>
              </a:rPr>
              <a:t> </a:t>
            </a:r>
            <a:r>
              <a:rPr lang="en-US" sz="1800" dirty="0">
                <a:solidFill>
                  <a:srgbClr val="000000"/>
                </a:solidFill>
                <a:effectLst/>
                <a:latin typeface="Calibri" panose="020F0502020204030204" pitchFamily="34" charset="0"/>
                <a:hlinkClick r:id="rId3"/>
              </a:rPr>
              <a:t>15 Sales Dashboard Examples [+ Tips and Templates] |</a:t>
            </a:r>
            <a:r>
              <a:rPr lang="en-US" sz="1800" dirty="0">
                <a:solidFill>
                  <a:srgbClr val="000000"/>
                </a:solidFill>
                <a:effectLst/>
                <a:latin typeface="Calibri" panose="020F0502020204030204" pitchFamily="34" charset="0"/>
              </a:rPr>
              <a:t> </a:t>
            </a:r>
            <a:r>
              <a:rPr lang="en-US" sz="1800" dirty="0" err="1">
                <a:solidFill>
                  <a:srgbClr val="000000"/>
                </a:solidFill>
                <a:effectLst/>
                <a:latin typeface="Calibri" panose="020F0502020204030204" pitchFamily="34" charset="0"/>
                <a:hlinkClick r:id="rId3"/>
              </a:rPr>
              <a:t>Yesware</a:t>
            </a:r>
            <a:endParaRPr lang="en-US" dirty="0"/>
          </a:p>
        </p:txBody>
      </p:sp>
    </p:spTree>
    <p:extLst>
      <p:ext uri="{BB962C8B-B14F-4D97-AF65-F5344CB8AC3E}">
        <p14:creationId xmlns:p14="http://schemas.microsoft.com/office/powerpoint/2010/main" val="3696371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5DE37-CDAC-C1FE-AD8F-C4AE4419B4E5}"/>
              </a:ext>
            </a:extLst>
          </p:cNvPr>
          <p:cNvSpPr>
            <a:spLocks noGrp="1"/>
          </p:cNvSpPr>
          <p:nvPr>
            <p:ph type="title"/>
          </p:nvPr>
        </p:nvSpPr>
        <p:spPr>
          <a:xfrm>
            <a:off x="0" y="286603"/>
            <a:ext cx="12191999" cy="702303"/>
          </a:xfrm>
        </p:spPr>
        <p:txBody>
          <a:bodyPr>
            <a:normAutofit fontScale="90000"/>
          </a:bodyPr>
          <a:lstStyle/>
          <a:p>
            <a:r>
              <a:rPr lang="en-US" b="1" dirty="0"/>
              <a:t>Part 1 – Dashboard showing Sales KPIs (Good Example) </a:t>
            </a:r>
          </a:p>
        </p:txBody>
      </p:sp>
      <p:sp>
        <p:nvSpPr>
          <p:cNvPr id="6" name="TextBox 5">
            <a:extLst>
              <a:ext uri="{FF2B5EF4-FFF2-40B4-BE49-F238E27FC236}">
                <a16:creationId xmlns:a16="http://schemas.microsoft.com/office/drawing/2014/main" id="{8803905E-BFE4-02BD-1C35-B355C9FB5C4E}"/>
              </a:ext>
            </a:extLst>
          </p:cNvPr>
          <p:cNvSpPr txBox="1"/>
          <p:nvPr/>
        </p:nvSpPr>
        <p:spPr>
          <a:xfrm>
            <a:off x="8605380" y="1327760"/>
            <a:ext cx="3782861" cy="5078313"/>
          </a:xfrm>
          <a:prstGeom prst="rect">
            <a:avLst/>
          </a:prstGeom>
          <a:noFill/>
        </p:spPr>
        <p:txBody>
          <a:bodyPr wrap="square" rtlCol="0">
            <a:spAutoFit/>
          </a:bodyPr>
          <a:lstStyle/>
          <a:p>
            <a:pPr marL="0" indent="0" algn="l" rtl="0" eaLnBrk="1" latinLnBrk="0" hangingPunct="1">
              <a:buNone/>
            </a:pPr>
            <a:r>
              <a:rPr lang="en-US" sz="1800" b="1" dirty="0">
                <a:solidFill>
                  <a:srgbClr val="000000"/>
                </a:solidFill>
                <a:effectLst/>
                <a:latin typeface="Calibri" panose="020F0502020204030204" pitchFamily="34" charset="0"/>
              </a:rPr>
              <a:t>Goal:</a:t>
            </a:r>
            <a:r>
              <a:rPr lang="en-US" sz="1800" dirty="0">
                <a:solidFill>
                  <a:srgbClr val="000000"/>
                </a:solidFill>
                <a:effectLst/>
                <a:latin typeface="Calibri" panose="020F0502020204030204" pitchFamily="34" charset="0"/>
              </a:rPr>
              <a:t> To illustrate the Revenue and Performance of specific products</a:t>
            </a:r>
          </a:p>
          <a:p>
            <a:pPr marL="0" indent="0" algn="l" rtl="0" eaLnBrk="1" latinLnBrk="0" hangingPunct="1">
              <a:buNone/>
            </a:pPr>
            <a:br>
              <a:rPr lang="en-US" sz="1800" dirty="0">
                <a:solidFill>
                  <a:srgbClr val="000000"/>
                </a:solidFill>
                <a:effectLst/>
                <a:latin typeface="Calibri" panose="020F0502020204030204" pitchFamily="34" charset="0"/>
              </a:rPr>
            </a:br>
            <a:r>
              <a:rPr lang="en-US" sz="1800" b="1" dirty="0">
                <a:solidFill>
                  <a:srgbClr val="000000"/>
                </a:solidFill>
                <a:effectLst/>
                <a:latin typeface="Calibri" panose="020F0502020204030204" pitchFamily="34" charset="0"/>
              </a:rPr>
              <a:t>Dashboard</a:t>
            </a:r>
            <a:r>
              <a:rPr lang="en-US" sz="1800" dirty="0">
                <a:solidFill>
                  <a:srgbClr val="000000"/>
                </a:solidFill>
                <a:effectLst/>
                <a:latin typeface="Calibri" panose="020F0502020204030204" pitchFamily="34" charset="0"/>
              </a:rPr>
              <a:t> </a:t>
            </a:r>
            <a:r>
              <a:rPr lang="en-US" sz="1800" b="1" dirty="0">
                <a:solidFill>
                  <a:srgbClr val="000000"/>
                </a:solidFill>
                <a:effectLst/>
                <a:latin typeface="Calibri" panose="020F0502020204030204" pitchFamily="34" charset="0"/>
              </a:rPr>
              <a:t>Type:</a:t>
            </a:r>
            <a:r>
              <a:rPr lang="en-US" sz="1800" dirty="0">
                <a:solidFill>
                  <a:srgbClr val="000000"/>
                </a:solidFill>
                <a:effectLst/>
                <a:latin typeface="Calibri" panose="020F0502020204030204" pitchFamily="34" charset="0"/>
              </a:rPr>
              <a:t> Static/Non-interactive Dashboard. Strategic dashboard.</a:t>
            </a:r>
          </a:p>
          <a:p>
            <a:pPr marL="0" indent="0" algn="l" rtl="0" eaLnBrk="1" latinLnBrk="0" hangingPunct="1">
              <a:buNone/>
            </a:pPr>
            <a:br>
              <a:rPr lang="en-US" sz="1800" dirty="0">
                <a:solidFill>
                  <a:srgbClr val="000000"/>
                </a:solidFill>
                <a:effectLst/>
                <a:latin typeface="Calibri" panose="020F0502020204030204" pitchFamily="34" charset="0"/>
              </a:rPr>
            </a:br>
            <a:r>
              <a:rPr lang="en-US" b="1" dirty="0">
                <a:solidFill>
                  <a:srgbClr val="000000"/>
                </a:solidFill>
                <a:latin typeface="Calibri" panose="020F0502020204030204" pitchFamily="34" charset="0"/>
              </a:rPr>
              <a:t>Brief </a:t>
            </a:r>
            <a:r>
              <a:rPr lang="en-US" sz="1800" b="1" dirty="0">
                <a:solidFill>
                  <a:srgbClr val="000000"/>
                </a:solidFill>
                <a:effectLst/>
                <a:latin typeface="Calibri" panose="020F0502020204030204" pitchFamily="34" charset="0"/>
              </a:rPr>
              <a:t>Overview:</a:t>
            </a:r>
            <a:r>
              <a:rPr lang="en-US" sz="1800" dirty="0">
                <a:solidFill>
                  <a:srgbClr val="000000"/>
                </a:solidFill>
                <a:effectLst/>
                <a:latin typeface="Calibri" panose="020F0502020204030204" pitchFamily="34" charset="0"/>
              </a:rPr>
              <a:t> This dashboard offers a detailed analysis of sales performance categorized by products and brands. It also includes information on Year-to-date revenue and the monthly revenue breakdown for each product/brand.</a:t>
            </a:r>
          </a:p>
          <a:p>
            <a:pPr marL="0" indent="0" algn="l" rtl="0" eaLnBrk="1" latinLnBrk="0" hangingPunct="1">
              <a:buNone/>
            </a:pPr>
            <a:br>
              <a:rPr lang="en-US" sz="1800" dirty="0">
                <a:solidFill>
                  <a:srgbClr val="000000"/>
                </a:solidFill>
                <a:effectLst/>
                <a:latin typeface="Calibri" panose="020F0502020204030204" pitchFamily="34" charset="0"/>
              </a:rPr>
            </a:br>
            <a:r>
              <a:rPr lang="en-US" sz="1800" b="1" dirty="0">
                <a:solidFill>
                  <a:srgbClr val="000000"/>
                </a:solidFill>
                <a:effectLst/>
                <a:latin typeface="Calibri" panose="020F0502020204030204" pitchFamily="34" charset="0"/>
              </a:rPr>
              <a:t>Hyperlink</a:t>
            </a:r>
            <a:r>
              <a:rPr lang="en-US" sz="1800" dirty="0">
                <a:solidFill>
                  <a:srgbClr val="000000"/>
                </a:solidFill>
                <a:effectLst/>
                <a:latin typeface="Calibri" panose="020F0502020204030204" pitchFamily="34" charset="0"/>
              </a:rPr>
              <a:t>: </a:t>
            </a:r>
            <a:r>
              <a:rPr lang="en-US" sz="1800" dirty="0">
                <a:solidFill>
                  <a:srgbClr val="000000"/>
                </a:solidFill>
                <a:effectLst/>
                <a:latin typeface="Calibri" panose="020F0502020204030204" pitchFamily="34" charset="0"/>
                <a:hlinkClick r:id="rId2"/>
              </a:rPr>
              <a:t>13 Sales dashboard examples based on real companies |</a:t>
            </a:r>
            <a:r>
              <a:rPr lang="en-US" sz="1800" dirty="0">
                <a:solidFill>
                  <a:srgbClr val="000000"/>
                </a:solidFill>
                <a:effectLst/>
                <a:latin typeface="Calibri" panose="020F0502020204030204" pitchFamily="34" charset="0"/>
              </a:rPr>
              <a:t> </a:t>
            </a:r>
            <a:r>
              <a:rPr lang="en-US" sz="1800" dirty="0" err="1">
                <a:solidFill>
                  <a:srgbClr val="000000"/>
                </a:solidFill>
                <a:effectLst/>
                <a:latin typeface="Calibri" panose="020F0502020204030204" pitchFamily="34" charset="0"/>
                <a:hlinkClick r:id="rId2"/>
              </a:rPr>
              <a:t>Geckoboard</a:t>
            </a:r>
            <a:endParaRPr lang="en-US" dirty="0"/>
          </a:p>
        </p:txBody>
      </p:sp>
      <p:pic>
        <p:nvPicPr>
          <p:cNvPr id="18" name="Content Placeholder 17">
            <a:extLst>
              <a:ext uri="{FF2B5EF4-FFF2-40B4-BE49-F238E27FC236}">
                <a16:creationId xmlns:a16="http://schemas.microsoft.com/office/drawing/2014/main" id="{4EF9E3FC-6684-C7E5-0A32-568F77D2168B}"/>
              </a:ext>
            </a:extLst>
          </p:cNvPr>
          <p:cNvPicPr>
            <a:picLocks noGrp="1" noChangeAspect="1"/>
          </p:cNvPicPr>
          <p:nvPr>
            <p:ph idx="1"/>
          </p:nvPr>
        </p:nvPicPr>
        <p:blipFill>
          <a:blip r:embed="rId3"/>
          <a:stretch>
            <a:fillRect/>
          </a:stretch>
        </p:blipFill>
        <p:spPr>
          <a:xfrm>
            <a:off x="42729" y="1152395"/>
            <a:ext cx="8562652" cy="4887771"/>
          </a:xfrm>
        </p:spPr>
      </p:pic>
    </p:spTree>
    <p:extLst>
      <p:ext uri="{BB962C8B-B14F-4D97-AF65-F5344CB8AC3E}">
        <p14:creationId xmlns:p14="http://schemas.microsoft.com/office/powerpoint/2010/main" val="2061917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A7942-79FA-80B2-28F7-1A36C371443B}"/>
              </a:ext>
            </a:extLst>
          </p:cNvPr>
          <p:cNvSpPr>
            <a:spLocks noGrp="1"/>
          </p:cNvSpPr>
          <p:nvPr>
            <p:ph type="title"/>
          </p:nvPr>
        </p:nvSpPr>
        <p:spPr>
          <a:xfrm>
            <a:off x="1097280" y="286604"/>
            <a:ext cx="10058400" cy="1216520"/>
          </a:xfrm>
        </p:spPr>
        <p:txBody>
          <a:bodyPr>
            <a:normAutofit fontScale="90000"/>
          </a:bodyPr>
          <a:lstStyle/>
          <a:p>
            <a:r>
              <a:rPr lang="en-US" dirty="0"/>
              <a:t>Part 1 - Analysis and Criticism - Comparison</a:t>
            </a:r>
          </a:p>
        </p:txBody>
      </p:sp>
      <p:sp>
        <p:nvSpPr>
          <p:cNvPr id="3" name="Content Placeholder 2">
            <a:extLst>
              <a:ext uri="{FF2B5EF4-FFF2-40B4-BE49-F238E27FC236}">
                <a16:creationId xmlns:a16="http://schemas.microsoft.com/office/drawing/2014/main" id="{DB91503C-D445-9D63-7CD1-30A0DBE6310E}"/>
              </a:ext>
            </a:extLst>
          </p:cNvPr>
          <p:cNvSpPr>
            <a:spLocks noGrp="1"/>
          </p:cNvSpPr>
          <p:nvPr>
            <p:ph idx="1"/>
          </p:nvPr>
        </p:nvSpPr>
        <p:spPr>
          <a:xfrm>
            <a:off x="1097280" y="1845734"/>
            <a:ext cx="10576978" cy="4404754"/>
          </a:xfrm>
        </p:spPr>
        <p:txBody>
          <a:bodyPr>
            <a:normAutofit/>
          </a:bodyPr>
          <a:lstStyle/>
          <a:p>
            <a:r>
              <a:rPr lang="en-US" b="1"/>
              <a:t>1. Clarity and Readability: </a:t>
            </a:r>
            <a:r>
              <a:rPr lang="en-US"/>
              <a:t>The first dashboard (bad example) was cumbersome with a lot of information presented at once, it had a cluttered layout with too many charts and tables in one screen making it difficult to focus on key insights. Meanwhile, the second dashboard (good example) was well- organized, breaking down data into digestible sections like revenue, units sold e.t.c.</a:t>
            </a:r>
          </a:p>
          <a:p>
            <a:r>
              <a:rPr lang="en-US" b="1"/>
              <a:t>2. Use of Data Visualization: </a:t>
            </a:r>
            <a:r>
              <a:rPr lang="en-US"/>
              <a:t>The first dashboard included many tables and text-heavy elements which increases the cognitive load of the audience and makes interpreting the dashboard difficult. The second dashboard effectively used bar charts and line charts for easy interpretation.</a:t>
            </a:r>
          </a:p>
          <a:p>
            <a:r>
              <a:rPr lang="en-US" b="1"/>
              <a:t>3. Use of color: </a:t>
            </a:r>
            <a:r>
              <a:rPr lang="en-US"/>
              <a:t>The first dashboard overuses color. There were a lot of red, green, yellow and gray hues with no clear pattern causing a visual clutter. The second dashboard uses distinct colors for product differentiation and trend tracking making it visually appealing.</a:t>
            </a:r>
          </a:p>
          <a:p>
            <a:r>
              <a:rPr lang="en-US" b="1"/>
              <a:t>4. Visual Hierarchy: </a:t>
            </a:r>
            <a:r>
              <a:rPr lang="en-US"/>
              <a:t>The first dashboard lacks clear emphasis on which key takeaway to focus on as all the elements in the dashboard compete for attention. The second dashboard used the preattentive principle of size by using big fonts and bold numbers to highlight key figures first.</a:t>
            </a:r>
            <a:endParaRPr lang="en-US" dirty="0"/>
          </a:p>
        </p:txBody>
      </p:sp>
    </p:spTree>
    <p:extLst>
      <p:ext uri="{BB962C8B-B14F-4D97-AF65-F5344CB8AC3E}">
        <p14:creationId xmlns:p14="http://schemas.microsoft.com/office/powerpoint/2010/main" val="737744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89F38-4904-E612-082C-BBD2169139BB}"/>
              </a:ext>
            </a:extLst>
          </p:cNvPr>
          <p:cNvSpPr>
            <a:spLocks noGrp="1"/>
          </p:cNvSpPr>
          <p:nvPr>
            <p:ph type="title"/>
          </p:nvPr>
        </p:nvSpPr>
        <p:spPr/>
        <p:txBody>
          <a:bodyPr/>
          <a:lstStyle/>
          <a:p>
            <a:r>
              <a:rPr lang="en-US" dirty="0"/>
              <a:t>Part 1 – Key Takeaways</a:t>
            </a:r>
          </a:p>
        </p:txBody>
      </p:sp>
      <p:sp>
        <p:nvSpPr>
          <p:cNvPr id="3" name="Content Placeholder 2">
            <a:extLst>
              <a:ext uri="{FF2B5EF4-FFF2-40B4-BE49-F238E27FC236}">
                <a16:creationId xmlns:a16="http://schemas.microsoft.com/office/drawing/2014/main" id="{25E989B5-17D0-AA37-7C7D-CB6722C37B7D}"/>
              </a:ext>
            </a:extLst>
          </p:cNvPr>
          <p:cNvSpPr>
            <a:spLocks noGrp="1"/>
          </p:cNvSpPr>
          <p:nvPr>
            <p:ph idx="1"/>
          </p:nvPr>
        </p:nvSpPr>
        <p:spPr>
          <a:xfrm>
            <a:off x="739036" y="1845734"/>
            <a:ext cx="11285950" cy="4725663"/>
          </a:xfrm>
        </p:spPr>
        <p:txBody>
          <a:bodyPr>
            <a:normAutofit lnSpcReduction="10000"/>
          </a:bodyPr>
          <a:lstStyle/>
          <a:p>
            <a:pPr marL="0" indent="0" algn="l" rtl="0" eaLnBrk="1" latinLnBrk="0" hangingPunct="1">
              <a:lnSpc>
                <a:spcPct val="90000"/>
              </a:lnSpc>
              <a:spcBef>
                <a:spcPts val="1200"/>
              </a:spcBef>
              <a:spcAft>
                <a:spcPts val="200"/>
              </a:spcAft>
              <a:buNone/>
            </a:pPr>
            <a:r>
              <a:rPr lang="en-US" sz="2000" b="1" dirty="0">
                <a:solidFill>
                  <a:srgbClr val="404040"/>
                </a:solidFill>
                <a:effectLst/>
                <a:latin typeface="Calibri" panose="020F0502020204030204" pitchFamily="34" charset="0"/>
              </a:rPr>
              <a:t>1. Minimize clutter and enhance clarity:</a:t>
            </a:r>
            <a:r>
              <a:rPr lang="en-US" sz="2000" dirty="0">
                <a:solidFill>
                  <a:srgbClr val="404040"/>
                </a:solidFill>
                <a:effectLst/>
                <a:latin typeface="Calibri" panose="020F0502020204030204" pitchFamily="34" charset="0"/>
              </a:rPr>
              <a:t> It is essential to recognize that a dashboard has limited space, making it crucial to utilize this space effectively. Presenting information in a manner that communicates the most significant message at first glance is vital, while avoiding unnecessary clutter. Employing </a:t>
            </a:r>
            <a:r>
              <a:rPr lang="en-US" sz="2000" dirty="0" err="1">
                <a:solidFill>
                  <a:srgbClr val="404040"/>
                </a:solidFill>
                <a:effectLst/>
                <a:latin typeface="Calibri" panose="020F0502020204030204" pitchFamily="34" charset="0"/>
              </a:rPr>
              <a:t>preattentive</a:t>
            </a:r>
            <a:r>
              <a:rPr lang="en-US" sz="2000" dirty="0">
                <a:solidFill>
                  <a:srgbClr val="404040"/>
                </a:solidFill>
                <a:effectLst/>
                <a:latin typeface="Calibri" panose="020F0502020204030204" pitchFamily="34" charset="0"/>
              </a:rPr>
              <a:t> principles to emphasize key details can significantly enhance clarity.</a:t>
            </a:r>
          </a:p>
          <a:p>
            <a:pPr marL="0" indent="0" algn="l" rtl="0" eaLnBrk="1" latinLnBrk="0" hangingPunct="1">
              <a:lnSpc>
                <a:spcPct val="90000"/>
              </a:lnSpc>
              <a:spcBef>
                <a:spcPts val="1200"/>
              </a:spcBef>
              <a:spcAft>
                <a:spcPts val="200"/>
              </a:spcAft>
              <a:buNone/>
            </a:pPr>
            <a:r>
              <a:rPr lang="en-US" sz="2000" b="1" dirty="0">
                <a:solidFill>
                  <a:srgbClr val="404040"/>
                </a:solidFill>
                <a:effectLst/>
                <a:latin typeface="Calibri" panose="020F0502020204030204" pitchFamily="34" charset="0"/>
              </a:rPr>
              <a:t>2. Understand your audience's needs:</a:t>
            </a:r>
            <a:r>
              <a:rPr lang="en-US" sz="2000" dirty="0">
                <a:solidFill>
                  <a:srgbClr val="404040"/>
                </a:solidFill>
                <a:effectLst/>
                <a:latin typeface="Calibri" panose="020F0502020204030204" pitchFamily="34" charset="0"/>
              </a:rPr>
              <a:t> When designing dashboards, it is critical to identify who the audience is and the purpose behind the dashboard's creation. This understanding will allow for tailoring the dashboard to meet the specific requirements of the audience. Recognizing their needs will help focus on the information that is most relevant to them in relation to the organization's goals.</a:t>
            </a:r>
          </a:p>
          <a:p>
            <a:pPr marL="0" indent="0" algn="l" rtl="0" eaLnBrk="1" latinLnBrk="0" hangingPunct="1">
              <a:lnSpc>
                <a:spcPct val="90000"/>
              </a:lnSpc>
              <a:spcBef>
                <a:spcPts val="1200"/>
              </a:spcBef>
              <a:spcAft>
                <a:spcPts val="200"/>
              </a:spcAft>
              <a:buNone/>
            </a:pPr>
            <a:r>
              <a:rPr lang="en-US" sz="2000" b="1" dirty="0">
                <a:solidFill>
                  <a:srgbClr val="404040"/>
                </a:solidFill>
                <a:effectLst/>
                <a:latin typeface="Calibri" panose="020F0502020204030204" pitchFamily="34" charset="0"/>
              </a:rPr>
              <a:t>3. Thoughtful use of color:</a:t>
            </a:r>
            <a:r>
              <a:rPr lang="en-US" sz="2000" dirty="0">
                <a:solidFill>
                  <a:srgbClr val="404040"/>
                </a:solidFill>
                <a:effectLst/>
                <a:latin typeface="Calibri" panose="020F0502020204030204" pitchFamily="34" charset="0"/>
              </a:rPr>
              <a:t> The application of color should be intentional. Both excessive and insufficient use of color can hinder the readability of charts. Moreover, color consistency across all charts within the dashboard is essential for coherence.</a:t>
            </a:r>
          </a:p>
          <a:p>
            <a:pPr marL="0" indent="0" algn="l" rtl="0" eaLnBrk="1" latinLnBrk="0" hangingPunct="1">
              <a:lnSpc>
                <a:spcPct val="90000"/>
              </a:lnSpc>
              <a:spcBef>
                <a:spcPts val="1200"/>
              </a:spcBef>
              <a:spcAft>
                <a:spcPts val="200"/>
              </a:spcAft>
              <a:buNone/>
            </a:pPr>
            <a:r>
              <a:rPr lang="en-US" sz="2000" b="1" dirty="0">
                <a:solidFill>
                  <a:srgbClr val="404040"/>
                </a:solidFill>
                <a:effectLst/>
                <a:latin typeface="Calibri" panose="020F0502020204030204" pitchFamily="34" charset="0"/>
              </a:rPr>
              <a:t>4. Effective data visualization techniques:</a:t>
            </a:r>
            <a:r>
              <a:rPr lang="en-US" sz="2000" dirty="0">
                <a:solidFill>
                  <a:srgbClr val="404040"/>
                </a:solidFill>
                <a:effectLst/>
                <a:latin typeface="Calibri" panose="020F0502020204030204" pitchFamily="34" charset="0"/>
              </a:rPr>
              <a:t> Utilizing appropriate data visualization methods is crucial for effectively communicating information. For instance, time series data should be represented using a line chart to facilitate easy identification of trends. Choosing the right charts is important to ensure that the data is conveyed accurately.</a:t>
            </a:r>
            <a:endParaRPr lang="en-US" dirty="0"/>
          </a:p>
        </p:txBody>
      </p:sp>
    </p:spTree>
    <p:extLst>
      <p:ext uri="{BB962C8B-B14F-4D97-AF65-F5344CB8AC3E}">
        <p14:creationId xmlns:p14="http://schemas.microsoft.com/office/powerpoint/2010/main" val="521434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C05A8-37B4-74FD-B5EF-2A2CAE751807}"/>
              </a:ext>
            </a:extLst>
          </p:cNvPr>
          <p:cNvSpPr>
            <a:spLocks noGrp="1"/>
          </p:cNvSpPr>
          <p:nvPr>
            <p:ph type="title"/>
          </p:nvPr>
        </p:nvSpPr>
        <p:spPr>
          <a:xfrm>
            <a:off x="751562" y="863206"/>
            <a:ext cx="11160690" cy="702303"/>
          </a:xfrm>
        </p:spPr>
        <p:txBody>
          <a:bodyPr>
            <a:normAutofit fontScale="90000"/>
          </a:bodyPr>
          <a:lstStyle/>
          <a:p>
            <a:r>
              <a:rPr lang="en-US" b="1" dirty="0"/>
              <a:t>Part 2 - Dashboard showing EJB Sales KPIs by TS</a:t>
            </a:r>
          </a:p>
        </p:txBody>
      </p:sp>
      <p:pic>
        <p:nvPicPr>
          <p:cNvPr id="5" name="Content Placeholder 4">
            <a:extLst>
              <a:ext uri="{FF2B5EF4-FFF2-40B4-BE49-F238E27FC236}">
                <a16:creationId xmlns:a16="http://schemas.microsoft.com/office/drawing/2014/main" id="{4DA40C3B-4625-6FAA-03F3-C45D273DEC3D}"/>
              </a:ext>
            </a:extLst>
          </p:cNvPr>
          <p:cNvPicPr>
            <a:picLocks noGrp="1" noChangeAspect="1"/>
          </p:cNvPicPr>
          <p:nvPr>
            <p:ph idx="1"/>
          </p:nvPr>
        </p:nvPicPr>
        <p:blipFill>
          <a:blip r:embed="rId2"/>
          <a:stretch>
            <a:fillRect/>
          </a:stretch>
        </p:blipFill>
        <p:spPr>
          <a:xfrm>
            <a:off x="882196" y="1703540"/>
            <a:ext cx="8179168" cy="4597051"/>
          </a:xfrm>
        </p:spPr>
      </p:pic>
    </p:spTree>
    <p:extLst>
      <p:ext uri="{BB962C8B-B14F-4D97-AF65-F5344CB8AC3E}">
        <p14:creationId xmlns:p14="http://schemas.microsoft.com/office/powerpoint/2010/main" val="3147402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248D6-7479-22C0-6606-EEF96EB4BAFB}"/>
              </a:ext>
            </a:extLst>
          </p:cNvPr>
          <p:cNvSpPr>
            <a:spLocks noGrp="1"/>
          </p:cNvSpPr>
          <p:nvPr>
            <p:ph type="title"/>
          </p:nvPr>
        </p:nvSpPr>
        <p:spPr>
          <a:xfrm>
            <a:off x="104384" y="211553"/>
            <a:ext cx="12087616" cy="915789"/>
          </a:xfrm>
        </p:spPr>
        <p:txBody>
          <a:bodyPr>
            <a:normAutofit fontScale="90000"/>
          </a:bodyPr>
          <a:lstStyle/>
          <a:p>
            <a:r>
              <a:rPr lang="en-US" sz="3600" b="1" dirty="0"/>
              <a:t>Part 2 - Dashboard showing Sales KPIs (filtered to highlight Juices) by TS</a:t>
            </a:r>
          </a:p>
        </p:txBody>
      </p:sp>
      <p:pic>
        <p:nvPicPr>
          <p:cNvPr id="5" name="Content Placeholder 4">
            <a:extLst>
              <a:ext uri="{FF2B5EF4-FFF2-40B4-BE49-F238E27FC236}">
                <a16:creationId xmlns:a16="http://schemas.microsoft.com/office/drawing/2014/main" id="{23C5F930-D802-E029-A0D5-3C0E5FA44B41}"/>
              </a:ext>
            </a:extLst>
          </p:cNvPr>
          <p:cNvPicPr>
            <a:picLocks noGrp="1" noChangeAspect="1"/>
          </p:cNvPicPr>
          <p:nvPr>
            <p:ph idx="1"/>
          </p:nvPr>
        </p:nvPicPr>
        <p:blipFill>
          <a:blip r:embed="rId2"/>
          <a:stretch>
            <a:fillRect/>
          </a:stretch>
        </p:blipFill>
        <p:spPr>
          <a:xfrm>
            <a:off x="483640" y="1340285"/>
            <a:ext cx="8936913" cy="5022937"/>
          </a:xfrm>
          <a:ln w="6350">
            <a:solidFill>
              <a:schemeClr val="tx1"/>
            </a:solidFill>
          </a:ln>
        </p:spPr>
      </p:pic>
    </p:spTree>
    <p:extLst>
      <p:ext uri="{BB962C8B-B14F-4D97-AF65-F5344CB8AC3E}">
        <p14:creationId xmlns:p14="http://schemas.microsoft.com/office/powerpoint/2010/main" val="2666236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264CC-8571-6C06-0DB8-DD94FD5C5698}"/>
              </a:ext>
            </a:extLst>
          </p:cNvPr>
          <p:cNvSpPr>
            <a:spLocks noGrp="1"/>
          </p:cNvSpPr>
          <p:nvPr>
            <p:ph type="title"/>
          </p:nvPr>
        </p:nvSpPr>
        <p:spPr>
          <a:xfrm>
            <a:off x="1097280" y="286603"/>
            <a:ext cx="10058400" cy="790635"/>
          </a:xfrm>
        </p:spPr>
        <p:txBody>
          <a:bodyPr/>
          <a:lstStyle/>
          <a:p>
            <a:r>
              <a:rPr lang="en-US" b="1" dirty="0"/>
              <a:t>Improved EJB Sales Dashboard by TS </a:t>
            </a:r>
            <a:endParaRPr lang="en-US" dirty="0"/>
          </a:p>
        </p:txBody>
      </p:sp>
      <p:pic>
        <p:nvPicPr>
          <p:cNvPr id="5" name="Content Placeholder 4">
            <a:extLst>
              <a:ext uri="{FF2B5EF4-FFF2-40B4-BE49-F238E27FC236}">
                <a16:creationId xmlns:a16="http://schemas.microsoft.com/office/drawing/2014/main" id="{FE690B0B-CC33-640A-775E-5EE5C67EE666}"/>
              </a:ext>
            </a:extLst>
          </p:cNvPr>
          <p:cNvPicPr>
            <a:picLocks noGrp="1" noChangeAspect="1"/>
          </p:cNvPicPr>
          <p:nvPr>
            <p:ph idx="1"/>
          </p:nvPr>
        </p:nvPicPr>
        <p:blipFill>
          <a:blip r:embed="rId2"/>
          <a:stretch>
            <a:fillRect/>
          </a:stretch>
        </p:blipFill>
        <p:spPr>
          <a:xfrm>
            <a:off x="1097280" y="1435647"/>
            <a:ext cx="8460079" cy="4754935"/>
          </a:xfrm>
          <a:ln w="6350">
            <a:solidFill>
              <a:schemeClr val="tx1"/>
            </a:solidFill>
          </a:ln>
        </p:spPr>
      </p:pic>
    </p:spTree>
    <p:extLst>
      <p:ext uri="{BB962C8B-B14F-4D97-AF65-F5344CB8AC3E}">
        <p14:creationId xmlns:p14="http://schemas.microsoft.com/office/powerpoint/2010/main" val="2612988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33F73-1C20-4FFF-9A52-6594E0F963DC}"/>
              </a:ext>
            </a:extLst>
          </p:cNvPr>
          <p:cNvSpPr>
            <a:spLocks noGrp="1"/>
          </p:cNvSpPr>
          <p:nvPr>
            <p:ph type="title"/>
          </p:nvPr>
        </p:nvSpPr>
        <p:spPr>
          <a:xfrm>
            <a:off x="1097280" y="286604"/>
            <a:ext cx="10058400" cy="1203994"/>
          </a:xfrm>
        </p:spPr>
        <p:txBody>
          <a:bodyPr/>
          <a:lstStyle/>
          <a:p>
            <a:r>
              <a:rPr lang="en-US" b="1" dirty="0"/>
              <a:t>Explanation of Improvements</a:t>
            </a:r>
          </a:p>
        </p:txBody>
      </p:sp>
      <p:sp>
        <p:nvSpPr>
          <p:cNvPr id="3" name="Content Placeholder 2">
            <a:extLst>
              <a:ext uri="{FF2B5EF4-FFF2-40B4-BE49-F238E27FC236}">
                <a16:creationId xmlns:a16="http://schemas.microsoft.com/office/drawing/2014/main" id="{A5F4BDFC-56CA-1A8E-4EAF-AAADF7C17AFA}"/>
              </a:ext>
            </a:extLst>
          </p:cNvPr>
          <p:cNvSpPr>
            <a:spLocks noGrp="1"/>
          </p:cNvSpPr>
          <p:nvPr>
            <p:ph idx="1"/>
          </p:nvPr>
        </p:nvSpPr>
        <p:spPr>
          <a:xfrm>
            <a:off x="1097279" y="1845734"/>
            <a:ext cx="10401613" cy="4417280"/>
          </a:xfrm>
        </p:spPr>
        <p:txBody>
          <a:bodyPr>
            <a:normAutofit lnSpcReduction="10000"/>
          </a:bodyPr>
          <a:lstStyle/>
          <a:p>
            <a:pPr marL="0" indent="0" algn="l" rtl="0" eaLnBrk="1" latinLnBrk="0" hangingPunct="1">
              <a:lnSpc>
                <a:spcPct val="90000"/>
              </a:lnSpc>
              <a:spcBef>
                <a:spcPts val="1200"/>
              </a:spcBef>
              <a:spcAft>
                <a:spcPts val="200"/>
              </a:spcAft>
              <a:buNone/>
            </a:pPr>
            <a:r>
              <a:rPr lang="en-US" sz="2000" b="1">
                <a:solidFill>
                  <a:srgbClr val="404040"/>
                </a:solidFill>
                <a:effectLst/>
                <a:latin typeface="Calibri" panose="020F0502020204030204" pitchFamily="34" charset="0"/>
              </a:rPr>
              <a:t>1. Increased interactivity:</a:t>
            </a:r>
            <a:r>
              <a:rPr lang="en-US" sz="2000">
                <a:solidFill>
                  <a:srgbClr val="404040"/>
                </a:solidFill>
                <a:effectLst/>
                <a:latin typeface="Calibri" panose="020F0502020204030204" pitchFamily="34" charset="0"/>
              </a:rPr>
              <a:t> I introduced filters for years and flavors to enhance the dashboard's interactivity. This enables users to focus on a specific flavor or year to examine the relevant KPIs for that chosen flavor or year.</a:t>
            </a:r>
          </a:p>
          <a:p>
            <a:pPr marL="0" indent="0" algn="l" rtl="0" eaLnBrk="1" latinLnBrk="0" hangingPunct="1">
              <a:lnSpc>
                <a:spcPct val="90000"/>
              </a:lnSpc>
              <a:spcBef>
                <a:spcPts val="1200"/>
              </a:spcBef>
              <a:spcAft>
                <a:spcPts val="200"/>
              </a:spcAft>
              <a:buNone/>
            </a:pPr>
            <a:r>
              <a:rPr lang="en-US" sz="2000" b="1">
                <a:solidFill>
                  <a:srgbClr val="404040"/>
                </a:solidFill>
                <a:effectLst/>
                <a:latin typeface="Calibri" panose="020F0502020204030204" pitchFamily="34" charset="0"/>
              </a:rPr>
              <a:t>2.</a:t>
            </a:r>
            <a:r>
              <a:rPr lang="en-US" sz="2000">
                <a:solidFill>
                  <a:srgbClr val="404040"/>
                </a:solidFill>
                <a:effectLst/>
                <a:latin typeface="Calibri" panose="020F0502020204030204" pitchFamily="34" charset="0"/>
              </a:rPr>
              <a:t> </a:t>
            </a:r>
            <a:r>
              <a:rPr lang="en-US" sz="2000" b="1">
                <a:solidFill>
                  <a:srgbClr val="404040"/>
                </a:solidFill>
                <a:effectLst/>
                <a:latin typeface="Calibri" panose="020F0502020204030204" pitchFamily="34" charset="0"/>
              </a:rPr>
              <a:t>Incorporated</a:t>
            </a:r>
            <a:r>
              <a:rPr lang="en-US" sz="2000">
                <a:solidFill>
                  <a:srgbClr val="404040"/>
                </a:solidFill>
                <a:effectLst/>
                <a:latin typeface="Calibri" panose="020F0502020204030204" pitchFamily="34" charset="0"/>
              </a:rPr>
              <a:t> </a:t>
            </a:r>
            <a:r>
              <a:rPr lang="en-US" sz="2000" b="1">
                <a:solidFill>
                  <a:srgbClr val="404040"/>
                </a:solidFill>
                <a:effectLst/>
                <a:latin typeface="Calibri" panose="020F0502020204030204" pitchFamily="34" charset="0"/>
              </a:rPr>
              <a:t>Summary</a:t>
            </a:r>
            <a:r>
              <a:rPr lang="en-US" sz="2000">
                <a:solidFill>
                  <a:srgbClr val="404040"/>
                </a:solidFill>
                <a:effectLst/>
                <a:latin typeface="Calibri" panose="020F0502020204030204" pitchFamily="34" charset="0"/>
              </a:rPr>
              <a:t> </a:t>
            </a:r>
            <a:r>
              <a:rPr lang="en-US" sz="2000" b="1">
                <a:solidFill>
                  <a:srgbClr val="404040"/>
                </a:solidFill>
                <a:effectLst/>
                <a:latin typeface="Calibri" panose="020F0502020204030204" pitchFamily="34" charset="0"/>
              </a:rPr>
              <a:t>Section:</a:t>
            </a:r>
            <a:r>
              <a:rPr lang="en-US" sz="2000">
                <a:solidFill>
                  <a:srgbClr val="404040"/>
                </a:solidFill>
                <a:effectLst/>
                <a:latin typeface="Calibri" panose="020F0502020204030204" pitchFamily="34" charset="0"/>
              </a:rPr>
              <a:t> While totals were included in the table, I emphasized the total revenue for Juices and Smoothies using larger fonts and a consistent color scheme. This aligns with the preattentive principles of size, allowing users to quickly grasp the revenue generated from juices and smoothies, as well as identify the top-selling flavor.</a:t>
            </a:r>
          </a:p>
          <a:p>
            <a:pPr marL="0" indent="0" algn="l" rtl="0" eaLnBrk="1" latinLnBrk="0" hangingPunct="1">
              <a:lnSpc>
                <a:spcPct val="90000"/>
              </a:lnSpc>
              <a:spcBef>
                <a:spcPts val="1200"/>
              </a:spcBef>
              <a:spcAft>
                <a:spcPts val="200"/>
              </a:spcAft>
              <a:buNone/>
            </a:pPr>
            <a:r>
              <a:rPr lang="en-US" sz="2000" b="1">
                <a:solidFill>
                  <a:srgbClr val="404040"/>
                </a:solidFill>
                <a:effectLst/>
                <a:latin typeface="Calibri" panose="020F0502020204030204" pitchFamily="34" charset="0"/>
              </a:rPr>
              <a:t>3.</a:t>
            </a:r>
            <a:r>
              <a:rPr lang="en-US" sz="2000">
                <a:solidFill>
                  <a:srgbClr val="404040"/>
                </a:solidFill>
                <a:effectLst/>
                <a:latin typeface="Calibri" panose="020F0502020204030204" pitchFamily="34" charset="0"/>
              </a:rPr>
              <a:t> </a:t>
            </a:r>
            <a:r>
              <a:rPr lang="en-US" sz="2000" b="1">
                <a:solidFill>
                  <a:srgbClr val="404040"/>
                </a:solidFill>
                <a:effectLst/>
                <a:latin typeface="Calibri" panose="020F0502020204030204" pitchFamily="34" charset="0"/>
              </a:rPr>
              <a:t>Minimized clutter:</a:t>
            </a:r>
            <a:r>
              <a:rPr lang="en-US" sz="2000">
                <a:solidFill>
                  <a:srgbClr val="404040"/>
                </a:solidFill>
                <a:effectLst/>
                <a:latin typeface="Calibri" panose="020F0502020204030204" pitchFamily="34" charset="0"/>
              </a:rPr>
              <a:t> To declutter the dashboard, I relocated the category filter from its previous position within the line chart to the side of the dashboard. I observed that placing the filter within the chart obscured details depending on the flavor being analyzed. This adjustment has improved readability by reducing clutter.</a:t>
            </a:r>
          </a:p>
          <a:p>
            <a:pPr marL="0" indent="0" algn="l" rtl="0" eaLnBrk="1" latinLnBrk="0" hangingPunct="1">
              <a:lnSpc>
                <a:spcPct val="90000"/>
              </a:lnSpc>
              <a:spcBef>
                <a:spcPts val="1200"/>
              </a:spcBef>
              <a:spcAft>
                <a:spcPts val="200"/>
              </a:spcAft>
              <a:buNone/>
            </a:pPr>
            <a:r>
              <a:rPr lang="en-US" sz="2000" b="1">
                <a:solidFill>
                  <a:srgbClr val="404040"/>
                </a:solidFill>
                <a:effectLst/>
                <a:latin typeface="Calibri" panose="020F0502020204030204" pitchFamily="34" charset="0"/>
              </a:rPr>
              <a:t>4.</a:t>
            </a:r>
            <a:r>
              <a:rPr lang="en-US" sz="2000">
                <a:solidFill>
                  <a:srgbClr val="404040"/>
                </a:solidFill>
                <a:effectLst/>
                <a:latin typeface="Calibri" panose="020F0502020204030204" pitchFamily="34" charset="0"/>
              </a:rPr>
              <a:t> </a:t>
            </a:r>
            <a:r>
              <a:rPr lang="en-US" sz="2000" b="1">
                <a:solidFill>
                  <a:srgbClr val="404040"/>
                </a:solidFill>
                <a:effectLst/>
                <a:latin typeface="Calibri" panose="020F0502020204030204" pitchFamily="34" charset="0"/>
              </a:rPr>
              <a:t>Organized</a:t>
            </a:r>
            <a:r>
              <a:rPr lang="en-US" sz="2000">
                <a:solidFill>
                  <a:srgbClr val="404040"/>
                </a:solidFill>
                <a:effectLst/>
                <a:latin typeface="Calibri" panose="020F0502020204030204" pitchFamily="34" charset="0"/>
              </a:rPr>
              <a:t> </a:t>
            </a:r>
            <a:r>
              <a:rPr lang="en-US" sz="2000" b="1">
                <a:solidFill>
                  <a:srgbClr val="404040"/>
                </a:solidFill>
                <a:effectLst/>
                <a:latin typeface="Calibri" panose="020F0502020204030204" pitchFamily="34" charset="0"/>
              </a:rPr>
              <a:t>sales</a:t>
            </a:r>
            <a:r>
              <a:rPr lang="en-US" sz="2000">
                <a:solidFill>
                  <a:srgbClr val="404040"/>
                </a:solidFill>
                <a:effectLst/>
                <a:latin typeface="Calibri" panose="020F0502020204030204" pitchFamily="34" charset="0"/>
              </a:rPr>
              <a:t> </a:t>
            </a:r>
            <a:r>
              <a:rPr lang="en-US" sz="2000" b="1">
                <a:solidFill>
                  <a:srgbClr val="404040"/>
                </a:solidFill>
                <a:effectLst/>
                <a:latin typeface="Calibri" panose="020F0502020204030204" pitchFamily="34" charset="0"/>
              </a:rPr>
              <a:t>table:</a:t>
            </a:r>
            <a:r>
              <a:rPr lang="en-US" sz="2000">
                <a:solidFill>
                  <a:srgbClr val="404040"/>
                </a:solidFill>
                <a:effectLst/>
                <a:latin typeface="Calibri" panose="020F0502020204030204" pitchFamily="34" charset="0"/>
              </a:rPr>
              <a:t> I sorted the sales table based on the sales performance of each flavor. This arrangement enables our audience to easily recognize that orange is the best-selling flavor, while beet is the least popular.</a:t>
            </a:r>
            <a:endParaRPr lang="en-US" dirty="0"/>
          </a:p>
        </p:txBody>
      </p:sp>
    </p:spTree>
    <p:extLst>
      <p:ext uri="{BB962C8B-B14F-4D97-AF65-F5344CB8AC3E}">
        <p14:creationId xmlns:p14="http://schemas.microsoft.com/office/powerpoint/2010/main" val="224067363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4295</TotalTime>
  <Words>890</Words>
  <Application>Microsoft Office PowerPoint</Application>
  <PresentationFormat>Widescreen</PresentationFormat>
  <Paragraphs>30</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Retrospect</vt:lpstr>
      <vt:lpstr>CIDM 6312 – Seminar in Information Visualization HW6</vt:lpstr>
      <vt:lpstr>Part 1 - Dashboard Showing Sales Pipeline KPIs (Bad Example)</vt:lpstr>
      <vt:lpstr>Part 1 – Dashboard showing Sales KPIs (Good Example) </vt:lpstr>
      <vt:lpstr>Part 1 - Analysis and Criticism - Comparison</vt:lpstr>
      <vt:lpstr>Part 1 – Key Takeaways</vt:lpstr>
      <vt:lpstr>Part 2 - Dashboard showing EJB Sales KPIs by TS</vt:lpstr>
      <vt:lpstr>Part 2 - Dashboard showing Sales KPIs (filtered to highlight Juices) by TS</vt:lpstr>
      <vt:lpstr>Improved EJB Sales Dashboard by TS </vt:lpstr>
      <vt:lpstr>Explanation of Improvements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akeem shadare</dc:creator>
  <cp:lastModifiedBy>akeem shadare</cp:lastModifiedBy>
  <cp:revision>1</cp:revision>
  <dcterms:created xsi:type="dcterms:W3CDTF">2025-03-17T03:45:11Z</dcterms:created>
  <dcterms:modified xsi:type="dcterms:W3CDTF">2025-03-20T03:20:14Z</dcterms:modified>
</cp:coreProperties>
</file>